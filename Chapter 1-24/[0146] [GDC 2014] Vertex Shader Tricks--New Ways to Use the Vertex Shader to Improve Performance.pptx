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slideshow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71" r:id="rId2"/>
    <p:sldId id="273" r:id="rId3"/>
    <p:sldId id="274" r:id="rId4"/>
    <p:sldId id="276" r:id="rId5"/>
    <p:sldId id="308" r:id="rId6"/>
    <p:sldId id="275" r:id="rId7"/>
    <p:sldId id="277" r:id="rId8"/>
    <p:sldId id="278" r:id="rId9"/>
    <p:sldId id="279" r:id="rId10"/>
    <p:sldId id="280" r:id="rId11"/>
    <p:sldId id="281" r:id="rId12"/>
    <p:sldId id="296" r:id="rId13"/>
    <p:sldId id="301" r:id="rId14"/>
    <p:sldId id="302" r:id="rId15"/>
    <p:sldId id="282" r:id="rId16"/>
    <p:sldId id="283" r:id="rId17"/>
    <p:sldId id="295" r:id="rId18"/>
    <p:sldId id="297" r:id="rId19"/>
    <p:sldId id="312" r:id="rId20"/>
    <p:sldId id="288" r:id="rId21"/>
    <p:sldId id="309" r:id="rId22"/>
    <p:sldId id="306" r:id="rId23"/>
    <p:sldId id="298" r:id="rId24"/>
    <p:sldId id="285" r:id="rId25"/>
    <p:sldId id="286" r:id="rId26"/>
    <p:sldId id="289" r:id="rId27"/>
    <p:sldId id="303" r:id="rId28"/>
    <p:sldId id="299" r:id="rId29"/>
    <p:sldId id="304" r:id="rId30"/>
    <p:sldId id="310" r:id="rId31"/>
    <p:sldId id="305" r:id="rId32"/>
    <p:sldId id="311" r:id="rId33"/>
    <p:sldId id="293" r:id="rId34"/>
  </p:sldIdLst>
  <p:sldSz cx="9144000" cy="5143500" type="screen16x9"/>
  <p:notesSz cx="6858000" cy="9144000"/>
  <p:custDataLst>
    <p:tags r:id="rId37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5pPr>
    <a:lvl6pPr marL="2286000" algn="l" defTabSz="457200" rtl="0" eaLnBrk="1" latinLnBrk="0" hangingPunct="1"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6pPr>
    <a:lvl7pPr marL="2743200" algn="l" defTabSz="457200" rtl="0" eaLnBrk="1" latinLnBrk="0" hangingPunct="1"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7pPr>
    <a:lvl8pPr marL="3200400" algn="l" defTabSz="457200" rtl="0" eaLnBrk="1" latinLnBrk="0" hangingPunct="1"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8pPr>
    <a:lvl9pPr marL="3657600" algn="l" defTabSz="457200" rtl="0" eaLnBrk="1" latinLnBrk="0" hangingPunct="1"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FFCC00"/>
    <a:srgbClr val="CC6600"/>
    <a:srgbClr val="996633"/>
    <a:srgbClr val="993300"/>
    <a:srgbClr val="FFCC99"/>
    <a:srgbClr val="CC99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3" autoAdjust="0"/>
    <p:restoredTop sz="90268" autoAdjust="0"/>
  </p:normalViewPr>
  <p:slideViewPr>
    <p:cSldViewPr snapToGrid="0">
      <p:cViewPr>
        <p:scale>
          <a:sx n="100" d="100"/>
          <a:sy n="100" d="100"/>
        </p:scale>
        <p:origin x="-252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ill\Documents\VSInstancing11_NoArrayPerformance%20-%20Copy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ISV\Cloud%20Imperium\MI_Perf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693057041404912E-2"/>
          <c:y val="4.682414698162729E-2"/>
          <c:w val="0.82742307243790281"/>
          <c:h val="0.814809832549166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'AMD vs Nvidia'!$J$3</c:f>
              <c:strCache>
                <c:ptCount val="1"/>
                <c:pt idx="0">
                  <c:v>R9 290x (ms)</c:v>
                </c:pt>
              </c:strCache>
            </c:strRef>
          </c:tx>
          <c:invertIfNegative val="0"/>
          <c:cat>
            <c:strRef>
              <c:f>'AMD vs Nvidia'!$A$8:$A$15</c:f>
              <c:strCache>
                <c:ptCount val="8"/>
                <c:pt idx="0">
                  <c:v>Indexed, 500K Sprites</c:v>
                </c:pt>
                <c:pt idx="1">
                  <c:v>Non-Indexed, 500K Sprites</c:v>
                </c:pt>
                <c:pt idx="2">
                  <c:v>GS, 500K Sprites</c:v>
                </c:pt>
                <c:pt idx="3">
                  <c:v>DrawInstanced, 500K Sprites</c:v>
                </c:pt>
                <c:pt idx="4">
                  <c:v>Indexed, 1M Sprites</c:v>
                </c:pt>
                <c:pt idx="5">
                  <c:v>Non-Indexed, 1M Sprites</c:v>
                </c:pt>
                <c:pt idx="6">
                  <c:v>GS, 1M Sprites</c:v>
                </c:pt>
                <c:pt idx="7">
                  <c:v>DrawInstanced, 1M Sprites</c:v>
                </c:pt>
              </c:strCache>
            </c:strRef>
          </c:cat>
          <c:val>
            <c:numRef>
              <c:f>'AMD vs Nvidia'!$J$8:$J$15</c:f>
              <c:numCache>
                <c:formatCode>General</c:formatCode>
                <c:ptCount val="8"/>
                <c:pt idx="0">
                  <c:v>0.52</c:v>
                </c:pt>
                <c:pt idx="1">
                  <c:v>0.77</c:v>
                </c:pt>
                <c:pt idx="2">
                  <c:v>1.3800000000000001</c:v>
                </c:pt>
                <c:pt idx="3">
                  <c:v>1.7700000000000005</c:v>
                </c:pt>
                <c:pt idx="4">
                  <c:v>1.02</c:v>
                </c:pt>
                <c:pt idx="5">
                  <c:v>1.53</c:v>
                </c:pt>
                <c:pt idx="6">
                  <c:v>2.7</c:v>
                </c:pt>
                <c:pt idx="7">
                  <c:v>3.54</c:v>
                </c:pt>
              </c:numCache>
            </c:numRef>
          </c:val>
        </c:ser>
        <c:ser>
          <c:idx val="1"/>
          <c:order val="1"/>
          <c:tx>
            <c:strRef>
              <c:f>'AMD vs Nvidia'!$K$3</c:f>
              <c:strCache>
                <c:ptCount val="1"/>
                <c:pt idx="0">
                  <c:v>Titan (ms)</c:v>
                </c:pt>
              </c:strCache>
            </c:strRef>
          </c:tx>
          <c:invertIfNegative val="0"/>
          <c:cat>
            <c:strRef>
              <c:f>'AMD vs Nvidia'!$A$8:$A$15</c:f>
              <c:strCache>
                <c:ptCount val="8"/>
                <c:pt idx="0">
                  <c:v>Indexed, 500K Sprites</c:v>
                </c:pt>
                <c:pt idx="1">
                  <c:v>Non-Indexed, 500K Sprites</c:v>
                </c:pt>
                <c:pt idx="2">
                  <c:v>GS, 500K Sprites</c:v>
                </c:pt>
                <c:pt idx="3">
                  <c:v>DrawInstanced, 500K Sprites</c:v>
                </c:pt>
                <c:pt idx="4">
                  <c:v>Indexed, 1M Sprites</c:v>
                </c:pt>
                <c:pt idx="5">
                  <c:v>Non-Indexed, 1M Sprites</c:v>
                </c:pt>
                <c:pt idx="6">
                  <c:v>GS, 1M Sprites</c:v>
                </c:pt>
                <c:pt idx="7">
                  <c:v>DrawInstanced, 1M Sprites</c:v>
                </c:pt>
              </c:strCache>
            </c:strRef>
          </c:cat>
          <c:val>
            <c:numRef>
              <c:f>'AMD vs Nvidia'!$K$8:$K$15</c:f>
              <c:numCache>
                <c:formatCode>General</c:formatCode>
                <c:ptCount val="8"/>
                <c:pt idx="0">
                  <c:v>0.52</c:v>
                </c:pt>
                <c:pt idx="1">
                  <c:v>0.87000000000000022</c:v>
                </c:pt>
                <c:pt idx="2">
                  <c:v>0.83000000000000018</c:v>
                </c:pt>
                <c:pt idx="3">
                  <c:v>5.0999999999999996</c:v>
                </c:pt>
                <c:pt idx="4">
                  <c:v>1.5</c:v>
                </c:pt>
                <c:pt idx="5">
                  <c:v>1.92</c:v>
                </c:pt>
                <c:pt idx="6">
                  <c:v>1.6</c:v>
                </c:pt>
                <c:pt idx="7">
                  <c:v>10.3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226560"/>
        <c:axId val="120228096"/>
      </c:barChart>
      <c:catAx>
        <c:axId val="120226560"/>
        <c:scaling>
          <c:orientation val="minMax"/>
        </c:scaling>
        <c:delete val="0"/>
        <c:axPos val="b"/>
        <c:majorTickMark val="out"/>
        <c:minorTickMark val="none"/>
        <c:tickLblPos val="nextTo"/>
        <c:crossAx val="120228096"/>
        <c:crosses val="autoZero"/>
        <c:auto val="1"/>
        <c:lblAlgn val="ctr"/>
        <c:lblOffset val="100"/>
        <c:noMultiLvlLbl val="0"/>
      </c:catAx>
      <c:valAx>
        <c:axId val="120228096"/>
        <c:scaling>
          <c:orientation val="minMax"/>
        </c:scaling>
        <c:delete val="0"/>
        <c:axPos val="l"/>
        <c:majorGridlines>
          <c:spPr>
            <a:ln>
              <a:solidFill>
                <a:schemeClr val="accent4">
                  <a:lumMod val="10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12022656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ln>
            <a:solidFill>
              <a:schemeClr val="accent4">
                <a:lumMod val="10000"/>
              </a:schemeClr>
            </a:solidFill>
          </a:ln>
        </c:spPr>
      </c:dTable>
      <c:spPr>
        <a:noFill/>
        <a:ln>
          <a:solidFill>
            <a:schemeClr val="accent4">
              <a:lumMod val="10000"/>
            </a:schemeClr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 baseline="0">
          <a:solidFill>
            <a:schemeClr val="accent4">
              <a:lumMod val="10000"/>
            </a:schemeClr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R9 290x</c:v>
                </c:pt>
              </c:strCache>
            </c:strRef>
          </c:tx>
          <c:invertIfNegative val="0"/>
          <c:cat>
            <c:strRef>
              <c:f>Sheet1!$A$5:$A$6</c:f>
              <c:strCache>
                <c:ptCount val="2"/>
                <c:pt idx="0">
                  <c:v>DrawInstanced</c:v>
                </c:pt>
                <c:pt idx="1">
                  <c:v>Soft Instancing</c:v>
                </c:pt>
              </c:strCache>
            </c:strRef>
          </c:cat>
          <c:val>
            <c:numRef>
              <c:f>Sheet1!$B$5:$B$6</c:f>
              <c:numCache>
                <c:formatCode>General</c:formatCode>
                <c:ptCount val="2"/>
                <c:pt idx="0">
                  <c:v>26</c:v>
                </c:pt>
                <c:pt idx="1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Sheet1!$C$4</c:f>
              <c:strCache>
                <c:ptCount val="1"/>
                <c:pt idx="0">
                  <c:v>GTX 780</c:v>
                </c:pt>
              </c:strCache>
            </c:strRef>
          </c:tx>
          <c:invertIfNegative val="0"/>
          <c:cat>
            <c:strRef>
              <c:f>Sheet1!$A$5:$A$6</c:f>
              <c:strCache>
                <c:ptCount val="2"/>
                <c:pt idx="0">
                  <c:v>DrawInstanced</c:v>
                </c:pt>
                <c:pt idx="1">
                  <c:v>Soft Instancing</c:v>
                </c:pt>
              </c:strCache>
            </c:strRef>
          </c:cat>
          <c:val>
            <c:numRef>
              <c:f>Sheet1!$C$5:$C$6</c:f>
              <c:numCache>
                <c:formatCode>General</c:formatCode>
                <c:ptCount val="2"/>
                <c:pt idx="0">
                  <c:v>13</c:v>
                </c:pt>
                <c:pt idx="1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887360"/>
        <c:axId val="119888896"/>
      </c:barChart>
      <c:catAx>
        <c:axId val="1198873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aseline="0">
                <a:solidFill>
                  <a:schemeClr val="accent4">
                    <a:lumMod val="10000"/>
                  </a:schemeClr>
                </a:solidFill>
              </a:defRPr>
            </a:pPr>
            <a:endParaRPr lang="en-US"/>
          </a:p>
        </c:txPr>
        <c:crossAx val="119888896"/>
        <c:crosses val="autoZero"/>
        <c:auto val="1"/>
        <c:lblAlgn val="ctr"/>
        <c:lblOffset val="100"/>
        <c:noMultiLvlLbl val="0"/>
      </c:catAx>
      <c:valAx>
        <c:axId val="119888896"/>
        <c:scaling>
          <c:orientation val="minMax"/>
        </c:scaling>
        <c:delete val="0"/>
        <c:axPos val="l"/>
        <c:majorGridlines>
          <c:spPr>
            <a:ln>
              <a:solidFill>
                <a:schemeClr val="accent4">
                  <a:lumMod val="10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accent4">
                <a:lumMod val="10000"/>
              </a:schemeClr>
            </a:solidFill>
          </a:ln>
        </c:spPr>
        <c:txPr>
          <a:bodyPr/>
          <a:lstStyle/>
          <a:p>
            <a:pPr>
              <a:defRPr baseline="0">
                <a:solidFill>
                  <a:schemeClr val="accent4">
                    <a:lumMod val="10000"/>
                  </a:schemeClr>
                </a:solidFill>
              </a:defRPr>
            </a:pPr>
            <a:endParaRPr lang="en-US"/>
          </a:p>
        </c:txPr>
        <c:crossAx val="119887360"/>
        <c:crosses val="autoZero"/>
        <c:crossBetween val="between"/>
      </c:valAx>
      <c:spPr>
        <a:noFill/>
        <a:ln w="25400">
          <a:solidFill>
            <a:schemeClr val="accent4">
              <a:lumMod val="10000"/>
            </a:schemeClr>
          </a:solidFill>
        </a:ln>
      </c:spPr>
    </c:plotArea>
    <c:legend>
      <c:legendPos val="r"/>
      <c:overlay val="0"/>
      <c:txPr>
        <a:bodyPr/>
        <a:lstStyle/>
        <a:p>
          <a:pPr>
            <a:defRPr baseline="0">
              <a:solidFill>
                <a:schemeClr val="accent4">
                  <a:lumMod val="10000"/>
                </a:schemeClr>
              </a:solidFill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Verdana" pitchFamily="45" charset="0"/>
              </a:defRPr>
            </a:lvl1pPr>
          </a:lstStyle>
          <a:p>
            <a:pPr>
              <a:defRPr/>
            </a:pPr>
            <a:fld id="{B5B8EDBE-E71A-4485-AEB1-C3F3E4558C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42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kumimoji="0"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9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" name="Rectangle 10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kumimoji="0"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200">
                <a:latin typeface="Verdana" pitchFamily="45" charset="0"/>
              </a:defRPr>
            </a:lvl1pPr>
          </a:lstStyle>
          <a:p>
            <a:pPr>
              <a:defRPr/>
            </a:pPr>
            <a:fld id="{1A971900-241C-4E4A-BC3F-064FFF1686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73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80" charset="-128"/>
        <a:cs typeface="ヒラギノ角ゴ Pro W3" pitchFamily="8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4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4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4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4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79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8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02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59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56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The value of </a:t>
            </a:r>
            <a:r>
              <a:rPr lang="en-US" dirty="0" err="1" smtClean="0"/>
              <a:t>SV_Vertex</a:t>
            </a:r>
            <a:r>
              <a:rPr lang="en-US" baseline="0" dirty="0" err="1" smtClean="0"/>
              <a:t>ID</a:t>
            </a:r>
            <a:r>
              <a:rPr lang="en-US" baseline="0" dirty="0" smtClean="0"/>
              <a:t> depends on the draw call. For non-indexed Draw, the vertex ID starts with 0 and increments by 1 for every vertex processed by the shader. For </a:t>
            </a:r>
            <a:r>
              <a:rPr lang="en-US" baseline="0" dirty="0" err="1" smtClean="0"/>
              <a:t>DrawIndexed</a:t>
            </a:r>
            <a:r>
              <a:rPr lang="en-US" baseline="0" dirty="0" smtClean="0"/>
              <a:t>(), the </a:t>
            </a:r>
            <a:r>
              <a:rPr lang="en-US" baseline="0" dirty="0" err="1" smtClean="0"/>
              <a:t>vertexID</a:t>
            </a:r>
            <a:r>
              <a:rPr lang="en-US" baseline="0" dirty="0" smtClean="0"/>
              <a:t> is the value of the index in the index buffer for that vertex.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6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46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80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35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27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For</a:t>
            </a:r>
            <a:r>
              <a:rPr lang="en-US" baseline="0" dirty="0" smtClean="0"/>
              <a:t> indexed Draw calls, create an index buffer which contains (index location + index number). That way you can calculate (</a:t>
            </a:r>
            <a:r>
              <a:rPr lang="en-US" baseline="0" dirty="0" err="1" smtClean="0"/>
              <a:t>vertexID</a:t>
            </a:r>
            <a:r>
              <a:rPr lang="en-US" baseline="0" dirty="0" smtClean="0"/>
              <a:t>/</a:t>
            </a:r>
            <a:r>
              <a:rPr lang="en-US" baseline="0" dirty="0" err="1" smtClean="0"/>
              <a:t>vertsPerMesh</a:t>
            </a:r>
            <a:r>
              <a:rPr lang="en-US" baseline="0" dirty="0" smtClean="0"/>
              <a:t>) to get the instance index, and (</a:t>
            </a:r>
            <a:r>
              <a:rPr lang="en-US" baseline="0" dirty="0" err="1" smtClean="0"/>
              <a:t>vertexID</a:t>
            </a:r>
            <a:r>
              <a:rPr lang="en-US" baseline="0" dirty="0" smtClean="0"/>
              <a:t> % </a:t>
            </a:r>
            <a:r>
              <a:rPr lang="en-US" baseline="0" dirty="0" err="1" smtClean="0"/>
              <a:t>vertsPerMesh</a:t>
            </a:r>
            <a:r>
              <a:rPr lang="en-US" baseline="0" dirty="0" smtClean="0"/>
              <a:t>) to get the index value which you can use to look up the vertex.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94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95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73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67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89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96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If the mesh</a:t>
            </a:r>
            <a:r>
              <a:rPr lang="en-US" baseline="0" dirty="0" smtClean="0"/>
              <a:t> is being reused many times, then calculating the bounding box has little overhead.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Bounding box can be used for collision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11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52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Could read</a:t>
            </a:r>
            <a:r>
              <a:rPr lang="en-US" baseline="0" dirty="0" smtClean="0"/>
              <a:t> and write from the UAV instead of binding an input SRV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1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DC14_PPT_Titl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66750"/>
            <a:ext cx="8077200" cy="7810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077200" cy="2743200"/>
          </a:xfrm>
          <a:prstGeom prst="rect">
            <a:avLst/>
          </a:prstGeom>
        </p:spPr>
        <p:txBody>
          <a:bodyPr/>
          <a:lstStyle>
            <a:lvl1pPr indent="-274320"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DC14_PPT_Content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ヒラギノ角ゴ Pro W3" pitchFamily="80" charset="-128"/>
          <a:cs typeface="ヒラギノ角ゴ Pro W3" pitchFamily="8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  <a:ea typeface="ヒラギノ角ゴ Pro W3" pitchFamily="80" charset="-128"/>
          <a:cs typeface="ヒラギノ角ゴ Pro W3" pitchFamily="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  <a:ea typeface="ヒラギノ角ゴ Pro W3" pitchFamily="80" charset="-128"/>
          <a:cs typeface="ヒラギノ角ゴ Pro W3" pitchFamily="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  <a:ea typeface="ヒラギノ角ゴ Pro W3" pitchFamily="80" charset="-128"/>
          <a:cs typeface="ヒラギノ角ゴ Pro W3" pitchFamily="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  <a:ea typeface="ヒラギノ角ゴ Pro W3" pitchFamily="80" charset="-128"/>
          <a:cs typeface="ヒラギノ角ゴ Pro W3" pitchFamily="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5000"/>
        <a:buFont typeface="Verdana" pitchFamily="34" charset="0"/>
        <a:buChar char="●"/>
        <a:defRPr sz="2800">
          <a:solidFill>
            <a:srgbClr val="000000"/>
          </a:solidFill>
          <a:latin typeface="+mn-lt"/>
          <a:ea typeface="ヒラギノ角ゴ Pro W3" pitchFamily="80" charset="-128"/>
          <a:cs typeface="ヒラギノ角ゴ Pro W3" pitchFamily="8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5000"/>
        <a:buFont typeface="Verdana" pitchFamily="34" charset="0"/>
        <a:buChar char="●"/>
        <a:defRPr sz="2400">
          <a:solidFill>
            <a:srgbClr val="000000"/>
          </a:solidFill>
          <a:latin typeface="+mn-lt"/>
          <a:ea typeface="ヒラギノ角ゴ Pro W3" pitchFamily="45" charset="-128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5000"/>
        <a:buFont typeface="Verdana" pitchFamily="34" charset="0"/>
        <a:buChar char="●"/>
        <a:defRPr sz="2000">
          <a:solidFill>
            <a:srgbClr val="000000"/>
          </a:solidFill>
          <a:latin typeface="+mn-lt"/>
          <a:ea typeface="ヒラギノ角ゴ Pro W3" pitchFamily="45" charset="-128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0000"/>
        <a:buFont typeface="Verdana" pitchFamily="34" charset="0"/>
        <a:buChar char="●"/>
        <a:defRPr baseline="0">
          <a:solidFill>
            <a:srgbClr val="000000"/>
          </a:solidFill>
          <a:latin typeface="+mn-lt"/>
          <a:ea typeface="ヒラギノ角ゴ Pro W3" pitchFamily="45" charset="-128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SzPct val="75000"/>
        <a:buFont typeface="Verdana" pitchFamily="34" charset="0"/>
        <a:buChar char="●"/>
        <a:defRPr>
          <a:solidFill>
            <a:srgbClr val="000000"/>
          </a:solidFill>
          <a:latin typeface="+mn-lt"/>
          <a:ea typeface="ヒラギノ角ゴ Pro W3" pitchFamily="4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&gt;"/>
        <a:defRPr>
          <a:solidFill>
            <a:srgbClr val="000000"/>
          </a:solidFill>
          <a:latin typeface="+mn-lt"/>
          <a:ea typeface="ヒラギノ角ゴ Pro W3" pitchFamily="4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&gt;"/>
        <a:defRPr>
          <a:solidFill>
            <a:srgbClr val="000000"/>
          </a:solidFill>
          <a:latin typeface="+mn-lt"/>
          <a:ea typeface="ヒラギノ角ゴ Pro W3" pitchFamily="4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&gt;"/>
        <a:defRPr>
          <a:solidFill>
            <a:srgbClr val="000000"/>
          </a:solidFill>
          <a:latin typeface="+mn-lt"/>
          <a:ea typeface="ヒラギノ角ゴ Pro W3" pitchFamily="4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&gt;"/>
        <a:defRPr>
          <a:solidFill>
            <a:srgbClr val="000000"/>
          </a:solidFill>
          <a:latin typeface="+mn-lt"/>
          <a:ea typeface="ヒラギノ角ゴ Pro W3" pitchFamily="4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5800" y="1276350"/>
            <a:ext cx="7924800" cy="22860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Vertex Shader </a:t>
            </a:r>
            <a:r>
              <a:rPr lang="en-US" b="1" dirty="0" smtClean="0"/>
              <a:t>Tricks 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2000" b="1" dirty="0" smtClean="0"/>
              <a:t>New </a:t>
            </a:r>
            <a:r>
              <a:rPr lang="en-US" sz="2000" b="1" dirty="0"/>
              <a:t>Ways to Use the Vertex Shader to Improve Performance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2400" b="1" dirty="0" smtClean="0"/>
              <a:t>Bill Bilodeau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Developer Technology Engineer, AMD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174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Overview of the DX11 front-end pipeline</a:t>
            </a:r>
          </a:p>
          <a:p>
            <a:r>
              <a:rPr lang="en-US" dirty="0" smtClean="0"/>
              <a:t>Common bottlenecks</a:t>
            </a:r>
          </a:p>
          <a:p>
            <a:r>
              <a:rPr lang="en-US" dirty="0" smtClean="0"/>
              <a:t>Advanced Vertex Shader Features</a:t>
            </a:r>
          </a:p>
          <a:p>
            <a:r>
              <a:rPr lang="en-US" dirty="0" smtClean="0"/>
              <a:t>Vertex Shader Techniques</a:t>
            </a:r>
          </a:p>
          <a:p>
            <a:r>
              <a:rPr lang="en-US" dirty="0" smtClean="0"/>
              <a:t>Samples and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6705600" y="4502873"/>
            <a:ext cx="198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Graphics Hardware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42950"/>
            <a:ext cx="8077200" cy="781050"/>
          </a:xfrm>
        </p:spPr>
        <p:txBody>
          <a:bodyPr/>
          <a:lstStyle/>
          <a:p>
            <a:r>
              <a:rPr lang="en-US" dirty="0" smtClean="0"/>
              <a:t>DX11 Front-End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5638800" cy="2743200"/>
          </a:xfrm>
        </p:spPr>
        <p:txBody>
          <a:bodyPr/>
          <a:lstStyle/>
          <a:p>
            <a:r>
              <a:rPr lang="en-US" dirty="0" smtClean="0"/>
              <a:t>VS –vertex data</a:t>
            </a:r>
          </a:p>
          <a:p>
            <a:r>
              <a:rPr lang="en-US" dirty="0" smtClean="0"/>
              <a:t>HS – control points</a:t>
            </a:r>
          </a:p>
          <a:p>
            <a:r>
              <a:rPr lang="en-US" dirty="0" err="1" smtClean="0"/>
              <a:t>Tessellator</a:t>
            </a:r>
            <a:endParaRPr lang="en-US" dirty="0" smtClean="0"/>
          </a:p>
          <a:p>
            <a:r>
              <a:rPr lang="en-US" dirty="0" smtClean="0"/>
              <a:t>DS – generated vertices</a:t>
            </a:r>
          </a:p>
          <a:p>
            <a:r>
              <a:rPr lang="en-US" dirty="0" smtClean="0"/>
              <a:t>GS – primitives</a:t>
            </a:r>
          </a:p>
          <a:p>
            <a:r>
              <a:rPr lang="en-US" dirty="0" smtClean="0"/>
              <a:t>Write to UAV at all stages</a:t>
            </a:r>
          </a:p>
          <a:p>
            <a:pPr lvl="1"/>
            <a:r>
              <a:rPr lang="en-US" dirty="0" smtClean="0"/>
              <a:t>Starting with DX11.1</a:t>
            </a:r>
          </a:p>
          <a:p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6553200" y="1314450"/>
            <a:ext cx="2317967" cy="3190875"/>
            <a:chOff x="6553200" y="1314450"/>
            <a:chExt cx="2317967" cy="3190875"/>
          </a:xfrm>
        </p:grpSpPr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5794614"/>
                </p:ext>
              </p:extLst>
            </p:nvPr>
          </p:nvGraphicFramePr>
          <p:xfrm>
            <a:off x="6553200" y="1314450"/>
            <a:ext cx="2317967" cy="809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Visio" r:id="rId4" imgW="5972099" imgH="2086020" progId="Visio.Drawing.11">
                    <p:embed/>
                  </p:oleObj>
                </mc:Choice>
                <mc:Fallback>
                  <p:oleObj name="Visio" r:id="rId4" imgW="5972099" imgH="2086020" progId="Visio.Drawing.11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0" y="1314450"/>
                          <a:ext cx="2317967" cy="809625"/>
                        </a:xfrm>
                        <a:prstGeom prst="rect">
                          <a:avLst/>
                        </a:prstGeom>
                        <a:solidFill>
                          <a:schemeClr val="tx2"/>
                        </a:solidFill>
                        <a:ln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5585822"/>
                </p:ext>
              </p:extLst>
            </p:nvPr>
          </p:nvGraphicFramePr>
          <p:xfrm>
            <a:off x="6553200" y="2190750"/>
            <a:ext cx="2317750" cy="809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Visio" r:id="rId6" imgW="5972099" imgH="2086020" progId="Visio.Drawing.11">
                    <p:embed/>
                  </p:oleObj>
                </mc:Choice>
                <mc:Fallback>
                  <p:oleObj name="Visio" r:id="rId6" imgW="5972099" imgH="2086020" progId="Visio.Drawing.11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0" y="2190750"/>
                          <a:ext cx="2317750" cy="809625"/>
                        </a:xfrm>
                        <a:prstGeom prst="rect">
                          <a:avLst/>
                        </a:prstGeom>
                        <a:solidFill>
                          <a:schemeClr val="tx2"/>
                        </a:solidFill>
                        <a:ln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0254579"/>
                </p:ext>
              </p:extLst>
            </p:nvPr>
          </p:nvGraphicFramePr>
          <p:xfrm>
            <a:off x="6553200" y="3042714"/>
            <a:ext cx="2317750" cy="809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" name="Visio" r:id="rId7" imgW="5972099" imgH="2086020" progId="Visio.Drawing.11">
                    <p:embed/>
                  </p:oleObj>
                </mc:Choice>
                <mc:Fallback>
                  <p:oleObj name="Visio" r:id="rId7" imgW="5972099" imgH="2086020" progId="Visio.Drawing.11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0" y="3042714"/>
                          <a:ext cx="2317750" cy="809625"/>
                        </a:xfrm>
                        <a:prstGeom prst="rect">
                          <a:avLst/>
                        </a:prstGeom>
                        <a:solidFill>
                          <a:schemeClr val="tx2"/>
                        </a:solidFill>
                        <a:ln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Box 22"/>
            <p:cNvSpPr txBox="1"/>
            <p:nvPr/>
          </p:nvSpPr>
          <p:spPr>
            <a:xfrm>
              <a:off x="7315200" y="3858994"/>
              <a:ext cx="76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pPr algn="ctr"/>
              <a:r>
                <a:rPr lang="en-US" sz="120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</a:p>
            <a:p>
              <a:pPr algn="ctr"/>
              <a:r>
                <a:rPr lang="en-US" sz="12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endPara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324600" y="895350"/>
            <a:ext cx="2743200" cy="4114800"/>
            <a:chOff x="2754696" y="1707673"/>
            <a:chExt cx="2743200" cy="4114800"/>
          </a:xfrm>
        </p:grpSpPr>
        <p:sp>
          <p:nvSpPr>
            <p:cNvPr id="24" name="Rectangle 23"/>
            <p:cNvSpPr/>
            <p:nvPr/>
          </p:nvSpPr>
          <p:spPr bwMode="auto">
            <a:xfrm>
              <a:off x="2754696" y="1707673"/>
              <a:ext cx="2743200" cy="411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45" charset="0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787438" y="1774348"/>
              <a:ext cx="2658665" cy="3981450"/>
              <a:chOff x="6400800" y="714375"/>
              <a:chExt cx="2658665" cy="3981450"/>
            </a:xfrm>
          </p:grpSpPr>
          <p:sp>
            <p:nvSpPr>
              <p:cNvPr id="4" name="Rectangle 3"/>
              <p:cNvSpPr/>
              <p:nvPr/>
            </p:nvSpPr>
            <p:spPr bwMode="auto">
              <a:xfrm>
                <a:off x="6400800" y="714375"/>
                <a:ext cx="1524000" cy="304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45" charset="0"/>
                  </a:rPr>
                  <a:t>Input Assembler</a:t>
                </a: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6" name="Rounded Rectangle 5"/>
              <p:cNvSpPr/>
              <p:nvPr/>
            </p:nvSpPr>
            <p:spPr bwMode="auto">
              <a:xfrm>
                <a:off x="6477000" y="1857375"/>
                <a:ext cx="1371600" cy="3810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45" charset="0"/>
                  </a:rPr>
                  <a:t>Hull Shader</a:t>
                </a: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7" name="Rounded Rectangle 6"/>
              <p:cNvSpPr/>
              <p:nvPr/>
            </p:nvSpPr>
            <p:spPr bwMode="auto">
              <a:xfrm>
                <a:off x="6538912" y="3000375"/>
                <a:ext cx="1247776" cy="47625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45" charset="0"/>
                  </a:rPr>
                  <a:t>Domain Shader</a:t>
                </a: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6400800" y="2466975"/>
                <a:ext cx="1524000" cy="304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err="1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45" charset="0"/>
                  </a:rPr>
                  <a:t>Tessellator</a:t>
                </a: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9" name="Rounded Rectangle 8"/>
              <p:cNvSpPr/>
              <p:nvPr/>
            </p:nvSpPr>
            <p:spPr bwMode="auto">
              <a:xfrm>
                <a:off x="6529387" y="3705225"/>
                <a:ext cx="1266826" cy="457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45" charset="0"/>
                  </a:rPr>
                  <a:t>Geometry Shader</a:t>
                </a: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45" charset="0"/>
                </a:endParaRPr>
              </a:p>
            </p:txBody>
          </p:sp>
          <p:cxnSp>
            <p:nvCxnSpPr>
              <p:cNvPr id="11" name="Straight Arrow Connector 10"/>
              <p:cNvCxnSpPr>
                <a:stCxn id="4" idx="2"/>
              </p:cNvCxnSpPr>
              <p:nvPr/>
            </p:nvCxnSpPr>
            <p:spPr bwMode="auto">
              <a:xfrm>
                <a:off x="7162800" y="1019175"/>
                <a:ext cx="0" cy="22860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12" name="Straight Arrow Connector 11"/>
              <p:cNvCxnSpPr/>
              <p:nvPr/>
            </p:nvCxnSpPr>
            <p:spPr bwMode="auto">
              <a:xfrm>
                <a:off x="7162800" y="1628775"/>
                <a:ext cx="0" cy="22860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13" name="Straight Arrow Connector 12"/>
              <p:cNvCxnSpPr/>
              <p:nvPr/>
            </p:nvCxnSpPr>
            <p:spPr bwMode="auto">
              <a:xfrm>
                <a:off x="7162800" y="2238375"/>
                <a:ext cx="0" cy="22860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14" name="Straight Arrow Connector 13"/>
              <p:cNvCxnSpPr/>
              <p:nvPr/>
            </p:nvCxnSpPr>
            <p:spPr bwMode="auto">
              <a:xfrm>
                <a:off x="7162800" y="2771775"/>
                <a:ext cx="0" cy="22860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15" name="Straight Arrow Connector 14"/>
              <p:cNvCxnSpPr/>
              <p:nvPr/>
            </p:nvCxnSpPr>
            <p:spPr bwMode="auto">
              <a:xfrm>
                <a:off x="7162800" y="3476625"/>
                <a:ext cx="0" cy="22860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18" name="Straight Arrow Connector 17"/>
              <p:cNvCxnSpPr/>
              <p:nvPr/>
            </p:nvCxnSpPr>
            <p:spPr bwMode="auto">
              <a:xfrm>
                <a:off x="7162800" y="4162425"/>
                <a:ext cx="0" cy="53340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7162800" y="4429125"/>
                <a:ext cx="633413" cy="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22" name="Rectangle 21"/>
              <p:cNvSpPr/>
              <p:nvPr/>
            </p:nvSpPr>
            <p:spPr bwMode="auto">
              <a:xfrm>
                <a:off x="7815263" y="4210050"/>
                <a:ext cx="823912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45" charset="0"/>
                  </a:rPr>
                  <a:t>Stream Out</a:t>
                </a: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10" name="Rounded Rectangle 9"/>
              <p:cNvSpPr/>
              <p:nvPr/>
            </p:nvSpPr>
            <p:spPr bwMode="auto">
              <a:xfrm>
                <a:off x="8218884" y="1154905"/>
                <a:ext cx="840581" cy="292893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accent4">
                      <a:lumMod val="10000"/>
                    </a:schemeClr>
                  </a:solidFill>
                  <a:effectLst/>
                  <a:latin typeface="Verdana" pitchFamily="45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sz="1400" dirty="0">
                  <a:solidFill>
                    <a:schemeClr val="accent4">
                      <a:lumMod val="10000"/>
                    </a:schemeClr>
                  </a:solidFill>
                  <a:latin typeface="Verdana" pitchFamily="45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accent4">
                      <a:lumMod val="10000"/>
                    </a:schemeClr>
                  </a:solidFill>
                  <a:effectLst/>
                  <a:latin typeface="Verdana" pitchFamily="45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sz="1400" dirty="0">
                  <a:solidFill>
                    <a:schemeClr val="accent4">
                      <a:lumMod val="10000"/>
                    </a:schemeClr>
                  </a:solidFill>
                  <a:latin typeface="Verdana" pitchFamily="45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accent4">
                        <a:lumMod val="10000"/>
                      </a:schemeClr>
                    </a:solidFill>
                    <a:effectLst/>
                    <a:latin typeface="Verdana" pitchFamily="45" charset="0"/>
                  </a:rPr>
                  <a:t>CB</a:t>
                </a:r>
                <a:r>
                  <a:rPr lang="en-US" sz="1400" dirty="0">
                    <a:solidFill>
                      <a:schemeClr val="accent4">
                        <a:lumMod val="10000"/>
                      </a:schemeClr>
                    </a:solidFill>
                    <a:latin typeface="Verdana" pitchFamily="45" charset="0"/>
                  </a:rPr>
                  <a:t>,</a:t>
                </a:r>
                <a:endParaRPr kumimoji="1" lang="en-US" sz="1400" b="0" i="0" u="none" strike="noStrike" cap="none" normalizeH="0" dirty="0" smtClean="0">
                  <a:ln>
                    <a:noFill/>
                  </a:ln>
                  <a:solidFill>
                    <a:schemeClr val="accent4">
                      <a:lumMod val="10000"/>
                    </a:schemeClr>
                  </a:solidFill>
                  <a:effectLst/>
                  <a:latin typeface="Verdana" pitchFamily="45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accent4">
                        <a:lumMod val="10000"/>
                      </a:schemeClr>
                    </a:solidFill>
                    <a:effectLst/>
                    <a:latin typeface="Verdana" pitchFamily="45" charset="0"/>
                  </a:rPr>
                  <a:t>SRV,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400" dirty="0" smtClean="0">
                    <a:solidFill>
                      <a:schemeClr val="accent4">
                        <a:lumMod val="10000"/>
                      </a:schemeClr>
                    </a:solidFill>
                    <a:latin typeface="Verdana" pitchFamily="45" charset="0"/>
                  </a:rPr>
                  <a:t>or</a:t>
                </a:r>
                <a:r>
                  <a:rPr kumimoji="1" 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accent4">
                        <a:lumMod val="10000"/>
                      </a:schemeClr>
                    </a:solidFill>
                    <a:effectLst/>
                    <a:latin typeface="Verdana" pitchFamily="45" charset="0"/>
                  </a:rPr>
                  <a:t> UAV</a:t>
                </a:r>
                <a:endParaRPr kumimoji="1" lang="en-US" sz="1400" b="0" i="0" u="none" strike="noStrike" cap="none" normalizeH="0" baseline="0" dirty="0">
                  <a:ln>
                    <a:noFill/>
                  </a:ln>
                  <a:solidFill>
                    <a:schemeClr val="accent4">
                      <a:lumMod val="10000"/>
                    </a:schemeClr>
                  </a:solidFill>
                  <a:effectLst/>
                  <a:latin typeface="Verdana" pitchFamily="45" charset="0"/>
                </a:endParaRPr>
              </a:p>
            </p:txBody>
          </p:sp>
          <p:cxnSp>
            <p:nvCxnSpPr>
              <p:cNvPr id="27" name="Straight Arrow Connector 26"/>
              <p:cNvCxnSpPr/>
              <p:nvPr/>
            </p:nvCxnSpPr>
            <p:spPr bwMode="auto">
              <a:xfrm>
                <a:off x="7848600" y="1438275"/>
                <a:ext cx="370284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arrow"/>
                <a:tailEnd type="arrow"/>
              </a:ln>
              <a:effectLst/>
            </p:spPr>
          </p:cxnSp>
          <p:cxnSp>
            <p:nvCxnSpPr>
              <p:cNvPr id="29" name="Straight Arrow Connector 28"/>
              <p:cNvCxnSpPr/>
              <p:nvPr/>
            </p:nvCxnSpPr>
            <p:spPr bwMode="auto">
              <a:xfrm>
                <a:off x="7836195" y="2047875"/>
                <a:ext cx="382689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arrow"/>
                <a:tailEnd type="arrow"/>
              </a:ln>
              <a:effectLst/>
            </p:spPr>
          </p:cxnSp>
          <p:cxnSp>
            <p:nvCxnSpPr>
              <p:cNvPr id="31" name="Straight Arrow Connector 30"/>
              <p:cNvCxnSpPr/>
              <p:nvPr/>
            </p:nvCxnSpPr>
            <p:spPr bwMode="auto">
              <a:xfrm>
                <a:off x="7786688" y="3238500"/>
                <a:ext cx="440531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arrow"/>
                <a:tailEnd type="arrow"/>
              </a:ln>
              <a:effectLst/>
            </p:spPr>
          </p:cxnSp>
          <p:cxnSp>
            <p:nvCxnSpPr>
              <p:cNvPr id="33" name="Straight Arrow Connector 32"/>
              <p:cNvCxnSpPr/>
              <p:nvPr/>
            </p:nvCxnSpPr>
            <p:spPr bwMode="auto">
              <a:xfrm>
                <a:off x="7786688" y="3908351"/>
                <a:ext cx="440531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arrow"/>
                <a:tailEnd type="arrow"/>
              </a:ln>
              <a:effectLst/>
            </p:spPr>
          </p:cxnSp>
          <p:sp>
            <p:nvSpPr>
              <p:cNvPr id="5" name="Rounded Rectangle 4"/>
              <p:cNvSpPr/>
              <p:nvPr/>
            </p:nvSpPr>
            <p:spPr bwMode="auto">
              <a:xfrm>
                <a:off x="6477000" y="1247775"/>
                <a:ext cx="1371600" cy="3810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45" charset="0"/>
                  </a:rPr>
                  <a:t>Vertex Shader</a:t>
                </a:r>
                <a:endParaRPr kumimoji="1" 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45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347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Bottlenecks - 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VS Attributes</a:t>
            </a:r>
          </a:p>
          <a:p>
            <a:pPr lvl="1"/>
            <a:r>
              <a:rPr lang="en-US" dirty="0"/>
              <a:t>Limit outputs to 4 attributes (AMD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This applies to all </a:t>
            </a:r>
            <a:r>
              <a:rPr lang="en-US" dirty="0" err="1" smtClean="0"/>
              <a:t>shader</a:t>
            </a:r>
            <a:r>
              <a:rPr lang="en-US" dirty="0" smtClean="0"/>
              <a:t> stages (except PS)</a:t>
            </a:r>
          </a:p>
          <a:p>
            <a:r>
              <a:rPr lang="en-US" dirty="0" smtClean="0"/>
              <a:t>VS Texture Fetches</a:t>
            </a:r>
          </a:p>
          <a:p>
            <a:pPr lvl="1"/>
            <a:r>
              <a:rPr lang="en-US" dirty="0" smtClean="0"/>
              <a:t>Too many texture fetches can add latency</a:t>
            </a:r>
          </a:p>
          <a:p>
            <a:pPr lvl="2"/>
            <a:r>
              <a:rPr lang="en-US" dirty="0" smtClean="0"/>
              <a:t>Especially dependent texture fetches</a:t>
            </a:r>
          </a:p>
          <a:p>
            <a:pPr lvl="2"/>
            <a:r>
              <a:rPr lang="en-US" dirty="0" smtClean="0"/>
              <a:t>Group fetches together for better performance</a:t>
            </a:r>
          </a:p>
          <a:p>
            <a:pPr lvl="2"/>
            <a:r>
              <a:rPr lang="en-US" dirty="0" smtClean="0"/>
              <a:t>Hide latency with ALU instructions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82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Bottlenecks - 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5257800" cy="3276600"/>
          </a:xfrm>
        </p:spPr>
        <p:txBody>
          <a:bodyPr/>
          <a:lstStyle/>
          <a:p>
            <a:r>
              <a:rPr lang="en-US" dirty="0" smtClean="0"/>
              <a:t>Use the caches wisely</a:t>
            </a:r>
          </a:p>
          <a:p>
            <a:pPr lvl="1"/>
            <a:r>
              <a:rPr lang="en-US" dirty="0"/>
              <a:t>Avoid large vertex </a:t>
            </a:r>
            <a:r>
              <a:rPr lang="en-US" dirty="0" smtClean="0"/>
              <a:t>formats that waste pre-VS cache space</a:t>
            </a:r>
          </a:p>
          <a:p>
            <a:pPr lvl="1"/>
            <a:r>
              <a:rPr lang="en-US" dirty="0" err="1" smtClean="0"/>
              <a:t>DrawIndexed</a:t>
            </a:r>
            <a:r>
              <a:rPr lang="en-US" dirty="0" smtClean="0"/>
              <a:t>() allows for reuse of processed vertices saved in the post-VS cache</a:t>
            </a:r>
          </a:p>
          <a:p>
            <a:pPr lvl="2"/>
            <a:r>
              <a:rPr lang="en-US" dirty="0" smtClean="0"/>
              <a:t>Vertices with the same index only need to get processed once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6629400" y="2571750"/>
            <a:ext cx="1371600" cy="381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45" charset="0"/>
              </a:rPr>
              <a:t>Vertex Shader</a:t>
            </a:r>
            <a:endParaRPr kumimoji="1" 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itchFamily="45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6019800" y="1352550"/>
            <a:ext cx="2590800" cy="838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45" charset="0"/>
              </a:rPr>
              <a:t>Pre-VS Cache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Verdana" pitchFamily="45" charset="0"/>
              </a:rPr>
              <a:t>(Hides Latency)</a:t>
            </a:r>
            <a:endParaRPr kumimoji="1" 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itchFamily="45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553200" y="714375"/>
            <a:ext cx="15240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45" charset="0"/>
              </a:rPr>
              <a:t>Input Assembler</a:t>
            </a:r>
            <a:endParaRPr kumimoji="1" 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itchFamily="45" charset="0"/>
            </a:endParaRPr>
          </a:p>
        </p:txBody>
      </p:sp>
      <p:cxnSp>
        <p:nvCxnSpPr>
          <p:cNvPr id="10" name="Straight Arrow Connector 9"/>
          <p:cNvCxnSpPr>
            <a:endCxn id="7" idx="0"/>
          </p:cNvCxnSpPr>
          <p:nvPr/>
        </p:nvCxnSpPr>
        <p:spPr bwMode="auto">
          <a:xfrm>
            <a:off x="7315200" y="1019175"/>
            <a:ext cx="0" cy="33337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7315200" y="2190750"/>
            <a:ext cx="0" cy="33337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Rounded Rectangle 12"/>
          <p:cNvSpPr/>
          <p:nvPr/>
        </p:nvSpPr>
        <p:spPr bwMode="auto">
          <a:xfrm>
            <a:off x="6019800" y="3295650"/>
            <a:ext cx="2590800" cy="838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45" charset="0"/>
              </a:rPr>
              <a:t>Post-VS Cache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000000"/>
                </a:solidFill>
                <a:latin typeface="Verdana" pitchFamily="45" charset="0"/>
              </a:rPr>
              <a:t>(Vertex Reuse)</a:t>
            </a:r>
            <a:endParaRPr kumimoji="1" 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itchFamily="45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7315200" y="2952750"/>
            <a:ext cx="0" cy="33337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93805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Bottlenecks - 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GS </a:t>
            </a:r>
          </a:p>
          <a:p>
            <a:pPr lvl="1"/>
            <a:r>
              <a:rPr lang="en-US" dirty="0" smtClean="0"/>
              <a:t>Can add or remove primitives</a:t>
            </a:r>
          </a:p>
          <a:p>
            <a:pPr lvl="1"/>
            <a:r>
              <a:rPr lang="en-US" dirty="0" smtClean="0"/>
              <a:t>Adding new primitives requires storing new vertices</a:t>
            </a:r>
          </a:p>
          <a:p>
            <a:pPr lvl="2"/>
            <a:r>
              <a:rPr lang="en-US" dirty="0" smtClean="0"/>
              <a:t>Going off chip to store data can be a bandwidth issue</a:t>
            </a:r>
          </a:p>
          <a:p>
            <a:pPr lvl="1"/>
            <a:r>
              <a:rPr lang="en-US" dirty="0" smtClean="0"/>
              <a:t>Using the GS means another </a:t>
            </a:r>
            <a:r>
              <a:rPr lang="en-US" dirty="0" err="1" smtClean="0"/>
              <a:t>shader</a:t>
            </a:r>
            <a:r>
              <a:rPr lang="en-US" dirty="0" smtClean="0"/>
              <a:t> stage</a:t>
            </a:r>
          </a:p>
          <a:p>
            <a:pPr lvl="2"/>
            <a:r>
              <a:rPr lang="en-US" dirty="0" smtClean="0"/>
              <a:t>This means more competition for </a:t>
            </a:r>
            <a:r>
              <a:rPr lang="en-US" dirty="0" err="1" smtClean="0"/>
              <a:t>shader</a:t>
            </a:r>
            <a:r>
              <a:rPr lang="en-US" dirty="0" smtClean="0"/>
              <a:t> resources</a:t>
            </a:r>
          </a:p>
          <a:p>
            <a:pPr lvl="2"/>
            <a:r>
              <a:rPr lang="en-US" dirty="0" smtClean="0"/>
              <a:t>Better if you can do everything in the VS</a:t>
            </a:r>
          </a:p>
          <a:p>
            <a:pPr lvl="2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8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Vertex Shader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 smtClean="0"/>
              <a:t>SV_VertexID</a:t>
            </a:r>
            <a:r>
              <a:rPr lang="en-US" dirty="0" smtClean="0"/>
              <a:t>, </a:t>
            </a:r>
            <a:r>
              <a:rPr lang="en-US" dirty="0" err="1" smtClean="0"/>
              <a:t>SV_InstanceID</a:t>
            </a:r>
            <a:endParaRPr lang="en-US" dirty="0" smtClean="0"/>
          </a:p>
          <a:p>
            <a:r>
              <a:rPr lang="en-US" dirty="0" smtClean="0"/>
              <a:t>UAV output (DX11.1)</a:t>
            </a:r>
          </a:p>
          <a:p>
            <a:r>
              <a:rPr lang="en-US" dirty="0" smtClean="0"/>
              <a:t>NULL vertex buffer</a:t>
            </a:r>
          </a:p>
          <a:p>
            <a:pPr lvl="1"/>
            <a:r>
              <a:rPr lang="en-US" dirty="0" smtClean="0"/>
              <a:t>VS can create its own vertex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61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SV_VertexID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Can use the vertex id to decide what vertex data to fetch</a:t>
            </a:r>
          </a:p>
          <a:p>
            <a:r>
              <a:rPr lang="en-US" dirty="0" smtClean="0"/>
              <a:t>Fetch from SRV, or procedurally create a vertex</a:t>
            </a: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VSOut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VertexShader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SV_VertexID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id)</a:t>
            </a:r>
          </a:p>
          <a:p>
            <a:pPr marL="457200" lvl="1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float3 vertex = 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g_VertexBuffer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[id];</a:t>
            </a:r>
          </a:p>
          <a:p>
            <a:pPr marL="457200" lvl="1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671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UAV buffers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Write to UAVs from a Vertex Shader</a:t>
            </a:r>
          </a:p>
          <a:p>
            <a:pPr lvl="1"/>
            <a:r>
              <a:rPr lang="en-US" dirty="0" smtClean="0"/>
              <a:t>New feature in DX11.1 (UAV at any stage)</a:t>
            </a:r>
          </a:p>
          <a:p>
            <a:r>
              <a:rPr lang="en-US" dirty="0" smtClean="0"/>
              <a:t>Can be used instead of stream-out</a:t>
            </a:r>
            <a:r>
              <a:rPr lang="en-US" dirty="0"/>
              <a:t> </a:t>
            </a:r>
            <a:r>
              <a:rPr lang="en-US" dirty="0" smtClean="0"/>
              <a:t>for writing vertex data</a:t>
            </a:r>
          </a:p>
          <a:p>
            <a:pPr lvl="1"/>
            <a:r>
              <a:rPr lang="en-US" dirty="0" smtClean="0"/>
              <a:t>Triangle output not limited to strips </a:t>
            </a:r>
          </a:p>
          <a:p>
            <a:pPr lvl="2"/>
            <a:r>
              <a:rPr lang="en-US" dirty="0" smtClean="0"/>
              <a:t>You can use whatever format you want</a:t>
            </a:r>
          </a:p>
          <a:p>
            <a:r>
              <a:rPr lang="en-US" dirty="0" smtClean="0"/>
              <a:t>Can output anything useful to a UAV </a:t>
            </a:r>
          </a:p>
        </p:txBody>
      </p:sp>
    </p:spTree>
    <p:extLst>
      <p:ext uri="{BB962C8B-B14F-4D97-AF65-F5344CB8AC3E}">
        <p14:creationId xmlns:p14="http://schemas.microsoft.com/office/powerpoint/2010/main" val="164745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NULL Vertex Buffer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DX11/DX10 allows this</a:t>
            </a:r>
          </a:p>
          <a:p>
            <a:pPr lvl="1"/>
            <a:r>
              <a:rPr lang="en-US" dirty="0" smtClean="0"/>
              <a:t>Just set the number of vertices in Draw() </a:t>
            </a:r>
          </a:p>
          <a:p>
            <a:pPr lvl="1"/>
            <a:r>
              <a:rPr lang="en-US" dirty="0" smtClean="0"/>
              <a:t>VS will execute without a vertex buffer bound</a:t>
            </a:r>
          </a:p>
          <a:p>
            <a:r>
              <a:rPr lang="en-US" dirty="0" smtClean="0"/>
              <a:t>Can be used for instancing</a:t>
            </a:r>
          </a:p>
          <a:p>
            <a:pPr lvl="1"/>
            <a:r>
              <a:rPr lang="en-US" dirty="0" smtClean="0"/>
              <a:t>Call Draw() with the total number of vertices</a:t>
            </a:r>
          </a:p>
          <a:p>
            <a:pPr lvl="1"/>
            <a:r>
              <a:rPr lang="en-US" dirty="0" smtClean="0"/>
              <a:t>Bind mesh and instance data as SRVs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95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Vertex Shader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Full Screen </a:t>
            </a:r>
            <a:r>
              <a:rPr lang="en-US" dirty="0" smtClean="0"/>
              <a:t>Triangle</a:t>
            </a:r>
            <a:endParaRPr lang="en-US" dirty="0"/>
          </a:p>
          <a:p>
            <a:r>
              <a:rPr lang="en-US" dirty="0" smtClean="0"/>
              <a:t>Vertex Shader Instancing</a:t>
            </a:r>
          </a:p>
          <a:p>
            <a:pPr lvl="1"/>
            <a:r>
              <a:rPr lang="en-US" dirty="0" smtClean="0"/>
              <a:t>Merged Instancing</a:t>
            </a:r>
          </a:p>
          <a:p>
            <a:r>
              <a:rPr lang="en-US" dirty="0" smtClean="0"/>
              <a:t>Vertex Shader UAVs</a:t>
            </a:r>
          </a:p>
          <a:p>
            <a:endParaRPr lang="en-US" dirty="0" smtClean="0"/>
          </a:p>
          <a:p>
            <a:pPr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8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Screen Triangle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5943600" cy="2790928"/>
          </a:xfrm>
        </p:spPr>
        <p:txBody>
          <a:bodyPr/>
          <a:lstStyle/>
          <a:p>
            <a:r>
              <a:rPr lang="en-US" dirty="0"/>
              <a:t>For post-processing </a:t>
            </a:r>
            <a:r>
              <a:rPr lang="en-US" dirty="0" smtClean="0"/>
              <a:t>effects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riangle has better performance than quad</a:t>
            </a:r>
            <a:endParaRPr lang="en-US" dirty="0"/>
          </a:p>
          <a:p>
            <a:r>
              <a:rPr lang="en-US" dirty="0" smtClean="0"/>
              <a:t>Fast and easy with VS generated coordinates</a:t>
            </a:r>
          </a:p>
          <a:p>
            <a:pPr lvl="1"/>
            <a:r>
              <a:rPr lang="en-US" dirty="0" smtClean="0"/>
              <a:t>No IB or VB is necessary</a:t>
            </a:r>
            <a:endParaRPr lang="en-US" dirty="0"/>
          </a:p>
          <a:p>
            <a:r>
              <a:rPr lang="en-US" dirty="0" smtClean="0"/>
              <a:t>Something you should be using for full screen effects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486400" y="1780942"/>
            <a:ext cx="3831318" cy="2234336"/>
            <a:chOff x="5486400" y="1780942"/>
            <a:chExt cx="3831318" cy="2234336"/>
          </a:xfrm>
        </p:grpSpPr>
        <p:grpSp>
          <p:nvGrpSpPr>
            <p:cNvPr id="15" name="Group 14"/>
            <p:cNvGrpSpPr/>
            <p:nvPr/>
          </p:nvGrpSpPr>
          <p:grpSpPr>
            <a:xfrm>
              <a:off x="5486400" y="1780942"/>
              <a:ext cx="3390901" cy="2234336"/>
              <a:chOff x="4841373" y="2671813"/>
              <a:chExt cx="3390901" cy="2234336"/>
            </a:xfrm>
          </p:grpSpPr>
          <p:sp>
            <p:nvSpPr>
              <p:cNvPr id="5" name="Rectangle 4"/>
              <p:cNvSpPr/>
              <p:nvPr/>
            </p:nvSpPr>
            <p:spPr bwMode="auto">
              <a:xfrm>
                <a:off x="5908174" y="3596178"/>
                <a:ext cx="990600" cy="838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4" name="Isosceles Triangle 3"/>
              <p:cNvSpPr/>
              <p:nvPr/>
            </p:nvSpPr>
            <p:spPr bwMode="auto">
              <a:xfrm>
                <a:off x="5908174" y="2910378"/>
                <a:ext cx="2286000" cy="1524000"/>
              </a:xfrm>
              <a:prstGeom prst="triangle">
                <a:avLst>
                  <a:gd name="adj" fmla="val 0"/>
                </a:avLst>
              </a:prstGeom>
              <a:noFill/>
              <a:ln w="19050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6" name="Oval 5"/>
              <p:cNvSpPr/>
              <p:nvPr/>
            </p:nvSpPr>
            <p:spPr bwMode="auto">
              <a:xfrm flipV="1">
                <a:off x="8156074" y="4396278"/>
                <a:ext cx="76200" cy="76200"/>
              </a:xfrm>
              <a:prstGeom prst="ellipse">
                <a:avLst/>
              </a:prstGeom>
              <a:solidFill>
                <a:schemeClr val="accent4">
                  <a:lumMod val="1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8" name="Oval 7"/>
              <p:cNvSpPr/>
              <p:nvPr/>
            </p:nvSpPr>
            <p:spPr bwMode="auto">
              <a:xfrm flipV="1">
                <a:off x="5870074" y="4396278"/>
                <a:ext cx="76200" cy="76200"/>
              </a:xfrm>
              <a:prstGeom prst="ellipse">
                <a:avLst/>
              </a:prstGeom>
              <a:solidFill>
                <a:schemeClr val="accent4">
                  <a:lumMod val="1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9" name="Oval 8"/>
              <p:cNvSpPr/>
              <p:nvPr/>
            </p:nvSpPr>
            <p:spPr bwMode="auto">
              <a:xfrm flipV="1">
                <a:off x="5868737" y="2872612"/>
                <a:ext cx="76200" cy="76200"/>
              </a:xfrm>
              <a:prstGeom prst="ellipse">
                <a:avLst/>
              </a:prstGeom>
              <a:solidFill>
                <a:schemeClr val="accent4">
                  <a:lumMod val="1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45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910541" y="4629150"/>
                <a:ext cx="2286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Clip Space Coordinates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841373" y="4295878"/>
                <a:ext cx="11430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(-1, -1, 0)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984374" y="2671813"/>
                <a:ext cx="10668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(-1, 3, 0)</a:t>
                </a: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8284484" y="2985907"/>
              <a:ext cx="10332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dirty="0" smtClean="0">
                  <a:solidFill>
                    <a:srgbClr val="000000"/>
                  </a:solidFill>
                  <a:latin typeface="+mn-lt"/>
                  <a:cs typeface="Courier New" panose="02070309020205020404" pitchFamily="49" charset="0"/>
                </a:rPr>
                <a:t>(3, -1, 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927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Screen Triangle: C++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581150"/>
            <a:ext cx="8610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Null VB, IB</a:t>
            </a:r>
          </a:p>
          <a:p>
            <a:pPr algn="l"/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IASetVertexBuffers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( 0, 0, NULL, NULL, NULL 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pd3dImmediateContext-&gt;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IASetIndexBuffer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NULL, (DXGI_FORMAT)0, 0 );</a:t>
            </a:r>
          </a:p>
          <a:p>
            <a:pPr algn="l"/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pd3dImmediateContext-&gt;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IASetInputLayout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NULL 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endParaRPr lang="en-US" sz="1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 Shaders </a:t>
            </a:r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pd3dImmediateContext-&gt;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VSSetShader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g_pFullScreenVS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NULL, 0 );</a:t>
            </a:r>
          </a:p>
          <a:p>
            <a:pPr algn="l"/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PSSetShader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);</a:t>
            </a:r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pd3dImmediateContext-&gt;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PSSetShaderResources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);</a:t>
            </a:r>
          </a:p>
          <a:p>
            <a:pPr algn="l"/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IASetPrimitiveTopology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D3D11_PRIMITIVE_TOPOLOGY_TRIANGLELIST 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Render 3 vertices for the triangle</a:t>
            </a:r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pd3dImmediateContext-&gt;Draw(3, 0);</a:t>
            </a:r>
            <a:endParaRPr lang="en-US" sz="1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00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Screen Triangle: HLSL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305163"/>
            <a:ext cx="63246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VSOutput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VSFullScreenTest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id:SV_VERTEXID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VSOutput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output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1200" b="1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generate clip space position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output.pos.x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(float)(id / 2) * 4.0 - 1.0;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output.pos.y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(float)(id % 2) * 4.0 - 1.0;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output.pos.z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0.0;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output.pos.w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1.0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texture coordinates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output.tex.x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(float)(id / 2) * 2.0;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output.tex.y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1.0 - (float)(id % 2) * 2.0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color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output.color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float4(1, 1, 1, 1);</a:t>
            </a:r>
          </a:p>
          <a:p>
            <a:pPr algn="l"/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output;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6060574" y="2479010"/>
            <a:ext cx="9906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4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9" name="Isosceles Triangle 8"/>
          <p:cNvSpPr/>
          <p:nvPr/>
        </p:nvSpPr>
        <p:spPr bwMode="auto">
          <a:xfrm>
            <a:off x="6060574" y="1793210"/>
            <a:ext cx="2286000" cy="1524000"/>
          </a:xfrm>
          <a:prstGeom prst="triangle">
            <a:avLst>
              <a:gd name="adj" fmla="val 0"/>
            </a:avLst>
          </a:prstGeom>
          <a:noFill/>
          <a:ln w="19050" cap="flat" cmpd="sng" algn="ctr">
            <a:solidFill>
              <a:schemeClr val="accent4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 flipV="1">
            <a:off x="8308474" y="3279110"/>
            <a:ext cx="76200" cy="76200"/>
          </a:xfrm>
          <a:prstGeom prst="ellipse">
            <a:avLst/>
          </a:prstGeom>
          <a:solidFill>
            <a:schemeClr val="accent4">
              <a:lumMod val="1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 flipV="1">
            <a:off x="6022474" y="3279110"/>
            <a:ext cx="76200" cy="76200"/>
          </a:xfrm>
          <a:prstGeom prst="ellipse">
            <a:avLst/>
          </a:prstGeom>
          <a:solidFill>
            <a:schemeClr val="accent4">
              <a:lumMod val="1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 flipV="1">
            <a:off x="6021137" y="1755444"/>
            <a:ext cx="76200" cy="76200"/>
          </a:xfrm>
          <a:prstGeom prst="ellipse">
            <a:avLst/>
          </a:prstGeom>
          <a:solidFill>
            <a:schemeClr val="accent4">
              <a:lumMod val="1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62941" y="3788980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Clip Space Coordinates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1136" y="3379080"/>
            <a:ext cx="1182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(-1, -1,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2007" y="1478445"/>
            <a:ext cx="1069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(-1, 3, 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3099" y="3385709"/>
            <a:ext cx="1185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(3, -1, 0)</a:t>
            </a:r>
          </a:p>
        </p:txBody>
      </p:sp>
    </p:spTree>
    <p:extLst>
      <p:ext uri="{BB962C8B-B14F-4D97-AF65-F5344CB8AC3E}">
        <p14:creationId xmlns:p14="http://schemas.microsoft.com/office/powerpoint/2010/main" val="284456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VS Instancing: Point Sprites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000" y="1504950"/>
            <a:ext cx="8458200" cy="2743200"/>
          </a:xfrm>
        </p:spPr>
        <p:txBody>
          <a:bodyPr/>
          <a:lstStyle/>
          <a:p>
            <a:r>
              <a:rPr lang="en-US" dirty="0" smtClean="0"/>
              <a:t>Often done on GS, but can be faster on VS</a:t>
            </a:r>
          </a:p>
          <a:p>
            <a:pPr lvl="1"/>
            <a:r>
              <a:rPr lang="en-US" dirty="0" smtClean="0"/>
              <a:t>Create an SRV point buffer and bind to VS</a:t>
            </a:r>
          </a:p>
          <a:p>
            <a:pPr lvl="1"/>
            <a:r>
              <a:rPr lang="en-US" dirty="0" smtClean="0"/>
              <a:t>Call Draw or </a:t>
            </a:r>
            <a:r>
              <a:rPr lang="en-US" dirty="0" err="1" smtClean="0"/>
              <a:t>DrawIndexed</a:t>
            </a:r>
            <a:r>
              <a:rPr lang="en-US" dirty="0" smtClean="0"/>
              <a:t> to render the full triangle list. </a:t>
            </a:r>
          </a:p>
          <a:p>
            <a:pPr lvl="1"/>
            <a:r>
              <a:rPr lang="en-US" dirty="0" smtClean="0"/>
              <a:t>Read the location from the point buffer and expand to vertex location in quad</a:t>
            </a:r>
          </a:p>
          <a:p>
            <a:pPr lvl="1"/>
            <a:r>
              <a:rPr lang="en-US" dirty="0" smtClean="0"/>
              <a:t>Can be used for </a:t>
            </a:r>
            <a:r>
              <a:rPr lang="en-US" dirty="0"/>
              <a:t>p</a:t>
            </a:r>
            <a:r>
              <a:rPr lang="en-US" dirty="0" smtClean="0"/>
              <a:t>articles or </a:t>
            </a:r>
            <a:r>
              <a:rPr lang="en-US" dirty="0" err="1" smtClean="0"/>
              <a:t>Bokeh</a:t>
            </a:r>
            <a:r>
              <a:rPr lang="en-US" dirty="0" smtClean="0"/>
              <a:t> DOF sprites</a:t>
            </a:r>
          </a:p>
          <a:p>
            <a:pPr lvl="1"/>
            <a:r>
              <a:rPr lang="en-US" dirty="0" smtClean="0"/>
              <a:t>Don’t use </a:t>
            </a:r>
            <a:r>
              <a:rPr lang="en-US" dirty="0" err="1" smtClean="0"/>
              <a:t>DrawInstanced</a:t>
            </a:r>
            <a:r>
              <a:rPr lang="en-US" dirty="0" smtClean="0"/>
              <a:t> for a small mesh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74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Sprites: C++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1983743"/>
            <a:ext cx="838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pd3d-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IASetIndexBuffer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g_pParticleIndexBuffer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DXGI_FORMAT_R32_UINT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0 );</a:t>
            </a:r>
          </a:p>
          <a:p>
            <a:pPr algn="l"/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pd3d-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IASetPrimitiveTopology</a:t>
            </a:r>
            <a:r>
              <a:rPr lang="en-US" sz="14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D3D11_PRIMITIVE_TOPOLOGY_TRIANGLELIST );</a:t>
            </a:r>
          </a:p>
          <a:p>
            <a:pPr algn="l"/>
            <a:endParaRPr lang="en-US" sz="1400" b="1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pd3dImmediateContext-&gt;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DrawIndexed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g_particleCount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6, 0, 0);</a:t>
            </a:r>
          </a:p>
          <a:p>
            <a:pPr algn="l"/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10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Sprites: HLSL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76250" y="1276350"/>
            <a:ext cx="8305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VSInstancedParticleDrawOut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VSIndexBuffer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id:SV_VERTEXID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VSInstancedParticleDrawOut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output;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particleIndex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id / 4;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vertexInQuad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id % 4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calculate the position of the vertex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float3 position;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position.x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vertexInQuad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2) ? 1.0 : -1.0;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position.y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vertexInQuad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2) ? -1.0 : 1.0;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position.z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0.0;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position.xy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*= PARTICLE_RADIUS;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position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position, (float3x3)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g_mInvView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 + 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g_bufPosColor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particleIndex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pos.xyz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output.pos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float4(position,1.0),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g_mWorldViewProj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output.color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g_bufPosColor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particleIndex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].color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texture coordinate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output.tex.x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vertexInQuad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2) ? 1.0 : 0.0;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output.tex.y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vertexInQuad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2) ? 1.0 : 0.0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447800" y="1885950"/>
            <a:ext cx="2743200" cy="381000"/>
          </a:xfrm>
          <a:prstGeom prst="rect">
            <a:avLst/>
          </a:prstGeom>
          <a:solidFill>
            <a:srgbClr val="FFFF00">
              <a:alpha val="3294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447800" y="3562343"/>
            <a:ext cx="3581400" cy="119063"/>
          </a:xfrm>
          <a:prstGeom prst="rect">
            <a:avLst/>
          </a:prstGeom>
          <a:solidFill>
            <a:srgbClr val="FFFF00">
              <a:alpha val="3294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447800" y="3914775"/>
            <a:ext cx="4648200" cy="119063"/>
          </a:xfrm>
          <a:prstGeom prst="rect">
            <a:avLst/>
          </a:prstGeom>
          <a:solidFill>
            <a:srgbClr val="FFFF00">
              <a:alpha val="32941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01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Performance</a:t>
            </a:r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1124781"/>
              </p:ext>
            </p:extLst>
          </p:nvPr>
        </p:nvGraphicFramePr>
        <p:xfrm>
          <a:off x="76200" y="1428750"/>
          <a:ext cx="9829800" cy="3462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0" name="Straight Connector 19"/>
          <p:cNvCxnSpPr/>
          <p:nvPr/>
        </p:nvCxnSpPr>
        <p:spPr bwMode="auto">
          <a:xfrm flipV="1">
            <a:off x="5097475" y="1504950"/>
            <a:ext cx="0" cy="2667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0" y="4476750"/>
            <a:ext cx="1295400" cy="4154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00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AMD </a:t>
            </a:r>
            <a:r>
              <a:rPr lang="en-US" sz="700" dirty="0" err="1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Radeon</a:t>
            </a:r>
            <a:r>
              <a:rPr lang="en-US" sz="700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 R9 290x</a:t>
            </a:r>
          </a:p>
          <a:p>
            <a:pPr algn="ctr"/>
            <a:endParaRPr lang="en-US" sz="700" dirty="0" smtClean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algn="ctr"/>
            <a:r>
              <a:rPr lang="en-US" sz="700" dirty="0" err="1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Nvidia</a:t>
            </a:r>
            <a:r>
              <a:rPr lang="en-US" sz="700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 Titan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0" y="4476750"/>
            <a:ext cx="152400" cy="152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0" y="4705350"/>
            <a:ext cx="152400" cy="15240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1190079" y="4219029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4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4457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 smtClean="0"/>
              <a:t>DrawIndexed</a:t>
            </a:r>
            <a:r>
              <a:rPr lang="en-US" dirty="0" smtClean="0"/>
              <a:t>() is the fastest method</a:t>
            </a:r>
          </a:p>
          <a:p>
            <a:r>
              <a:rPr lang="en-US" dirty="0" smtClean="0"/>
              <a:t>Draw() is slower but doesn’t need an IB</a:t>
            </a:r>
          </a:p>
          <a:p>
            <a:r>
              <a:rPr lang="en-US" dirty="0" smtClean="0"/>
              <a:t>Don’t use </a:t>
            </a:r>
            <a:r>
              <a:rPr lang="en-US" dirty="0" err="1" smtClean="0"/>
              <a:t>DrawInstanced</a:t>
            </a:r>
            <a:r>
              <a:rPr lang="en-US" dirty="0" smtClean="0"/>
              <a:t>() for creating sprites on either AMD or </a:t>
            </a:r>
            <a:r>
              <a:rPr lang="en-US" dirty="0" err="1" smtClean="0"/>
              <a:t>NVidia</a:t>
            </a:r>
            <a:r>
              <a:rPr lang="en-US" dirty="0" smtClean="0"/>
              <a:t> hardware</a:t>
            </a:r>
          </a:p>
          <a:p>
            <a:pPr lvl="1"/>
            <a:r>
              <a:rPr lang="en-US" dirty="0" smtClean="0"/>
              <a:t>Not recommended for a small number of vertices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 Instancing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458200" cy="3352800"/>
          </a:xfrm>
        </p:spPr>
        <p:txBody>
          <a:bodyPr/>
          <a:lstStyle/>
          <a:p>
            <a:r>
              <a:rPr lang="en-US" dirty="0" smtClean="0"/>
              <a:t>Combine multiple meshes that can be instanced many times</a:t>
            </a:r>
          </a:p>
          <a:p>
            <a:pPr lvl="1"/>
            <a:r>
              <a:rPr lang="en-US" dirty="0" smtClean="0"/>
              <a:t>Better than normal instancing which renders only one mesh</a:t>
            </a:r>
          </a:p>
          <a:p>
            <a:pPr lvl="2"/>
            <a:r>
              <a:rPr lang="en-US" dirty="0" smtClean="0"/>
              <a:t> Instance nearby meshes for smaller bounding box</a:t>
            </a:r>
          </a:p>
          <a:p>
            <a:r>
              <a:rPr lang="en-US" dirty="0" smtClean="0"/>
              <a:t>Each mesh is a page in the vertex data</a:t>
            </a:r>
          </a:p>
          <a:p>
            <a:pPr lvl="1"/>
            <a:r>
              <a:rPr lang="en-US" dirty="0" smtClean="0"/>
              <a:t>Fixed vertex count for each mesh</a:t>
            </a:r>
          </a:p>
          <a:p>
            <a:pPr lvl="2"/>
            <a:r>
              <a:rPr lang="en-US" dirty="0" smtClean="0"/>
              <a:t>Meshes smaller than page size use degenerate triangles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 Instancing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3928430" y="1318965"/>
            <a:ext cx="1752600" cy="3276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07838" y="4671765"/>
            <a:ext cx="1793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Mesh Vertex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3577" y="1471365"/>
            <a:ext cx="1670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Mesh Data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9612" y="1928565"/>
            <a:ext cx="1670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Mesh Data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9612" y="2433989"/>
            <a:ext cx="1670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Mesh Data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9612" y="2710988"/>
            <a:ext cx="1670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</a:t>
            </a:r>
            <a:endParaRPr lang="en-US" sz="1200" b="1" dirty="0" smtClean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3928430" y="1852365"/>
            <a:ext cx="1752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3928429" y="2309565"/>
            <a:ext cx="1752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3932394" y="2766765"/>
            <a:ext cx="1752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15"/>
          <p:cNvSpPr/>
          <p:nvPr/>
        </p:nvSpPr>
        <p:spPr bwMode="auto">
          <a:xfrm>
            <a:off x="581796" y="1471365"/>
            <a:ext cx="1600200" cy="3124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000" y="4701606"/>
            <a:ext cx="2001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Mesh Instance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797" y="1573933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Instance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797" y="1928564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Mesh Index 2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581796" y="2324431"/>
            <a:ext cx="160020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581797" y="3147765"/>
            <a:ext cx="160020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86203" y="2435167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Instance 1</a:t>
            </a:r>
          </a:p>
          <a:p>
            <a:pPr algn="ctr"/>
            <a:endParaRPr lang="en-US" sz="1200" b="1" dirty="0" smtClean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Mesh Index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796" y="3300165"/>
            <a:ext cx="160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</a:t>
            </a:r>
            <a:endParaRPr lang="en-US" sz="1200" b="1" dirty="0" smtClean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>
            <a:off x="2029596" y="2067063"/>
            <a:ext cx="2133600" cy="505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2066595" y="1609864"/>
            <a:ext cx="2096601" cy="13474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5" name="Group 34"/>
          <p:cNvGrpSpPr/>
          <p:nvPr/>
        </p:nvGrpSpPr>
        <p:grpSpPr>
          <a:xfrm>
            <a:off x="5669798" y="2107367"/>
            <a:ext cx="1112002" cy="1988614"/>
            <a:chOff x="5669798" y="2107367"/>
            <a:chExt cx="1112002" cy="1988614"/>
          </a:xfrm>
        </p:grpSpPr>
        <p:cxnSp>
          <p:nvCxnSpPr>
            <p:cNvPr id="38" name="Straight Connector 37"/>
            <p:cNvCxnSpPr/>
            <p:nvPr/>
          </p:nvCxnSpPr>
          <p:spPr bwMode="auto">
            <a:xfrm flipV="1">
              <a:off x="5681029" y="2107367"/>
              <a:ext cx="1100771" cy="2021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5669798" y="2758332"/>
              <a:ext cx="1112002" cy="13376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4" name="Group 33"/>
          <p:cNvGrpSpPr/>
          <p:nvPr/>
        </p:nvGrpSpPr>
        <p:grpSpPr>
          <a:xfrm>
            <a:off x="6342108" y="2107367"/>
            <a:ext cx="2420892" cy="2341582"/>
            <a:chOff x="6342108" y="2107367"/>
            <a:chExt cx="2420892" cy="2341582"/>
          </a:xfrm>
        </p:grpSpPr>
        <p:grpSp>
          <p:nvGrpSpPr>
            <p:cNvPr id="49" name="Group 48"/>
            <p:cNvGrpSpPr/>
            <p:nvPr/>
          </p:nvGrpSpPr>
          <p:grpSpPr>
            <a:xfrm>
              <a:off x="6781800" y="2107367"/>
              <a:ext cx="1981200" cy="1988616"/>
              <a:chOff x="7162800" y="2107366"/>
              <a:chExt cx="1981200" cy="1988616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7162800" y="2107366"/>
                <a:ext cx="1981200" cy="1988615"/>
                <a:chOff x="7162800" y="2107366"/>
                <a:chExt cx="1981200" cy="1988615"/>
              </a:xfrm>
            </p:grpSpPr>
            <p:sp>
              <p:nvSpPr>
                <p:cNvPr id="36" name="Rectangle 35"/>
                <p:cNvSpPr/>
                <p:nvPr/>
              </p:nvSpPr>
              <p:spPr bwMode="auto">
                <a:xfrm>
                  <a:off x="7162800" y="2107366"/>
                  <a:ext cx="914400" cy="198861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45" charset="0"/>
                  </a:endParaRPr>
                </a:p>
              </p:txBody>
            </p:sp>
            <p:sp>
              <p:nvSpPr>
                <p:cNvPr id="45" name="Right Brace 44"/>
                <p:cNvSpPr/>
                <p:nvPr/>
              </p:nvSpPr>
              <p:spPr bwMode="auto">
                <a:xfrm>
                  <a:off x="7772400" y="3488878"/>
                  <a:ext cx="152400" cy="533401"/>
                </a:xfrm>
                <a:prstGeom prst="rightBrace">
                  <a:avLst/>
                </a:prstGeom>
                <a:noFill/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 pitchFamily="45" charset="0"/>
                  </a:endParaRP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8077200" y="3546386"/>
                  <a:ext cx="10668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b="1" dirty="0" smtClean="0">
                      <a:solidFill>
                        <a:srgbClr val="000000"/>
                      </a:solidFill>
                      <a:latin typeface="+mn-lt"/>
                      <a:cs typeface="Courier New" panose="02070309020205020404" pitchFamily="49" charset="0"/>
                    </a:rPr>
                    <a:t>Degenerate Triangle</a:t>
                  </a:r>
                </a:p>
              </p:txBody>
            </p:sp>
          </p:grpSp>
          <p:sp>
            <p:nvSpPr>
              <p:cNvPr id="41" name="TextBox 40"/>
              <p:cNvSpPr txBox="1"/>
              <p:nvPr/>
            </p:nvSpPr>
            <p:spPr>
              <a:xfrm>
                <a:off x="7162800" y="2156990"/>
                <a:ext cx="9144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Vertex 0</a:t>
                </a:r>
              </a:p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Vertex 1</a:t>
                </a:r>
              </a:p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Vertex 2</a:t>
                </a:r>
              </a:p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Vertex 3</a:t>
                </a:r>
              </a:p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.</a:t>
                </a:r>
              </a:p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.</a:t>
                </a:r>
              </a:p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.</a:t>
                </a:r>
              </a:p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0</a:t>
                </a:r>
              </a:p>
              <a:p>
                <a:pPr algn="ctr"/>
                <a:r>
                  <a:rPr lang="en-US" sz="1200" b="1" dirty="0" smtClean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0</a:t>
                </a:r>
              </a:p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+mn-lt"/>
                    <a:cs typeface="Courier New" panose="02070309020205020404" pitchFamily="49" charset="0"/>
                  </a:rPr>
                  <a:t>0</a:t>
                </a:r>
                <a:endParaRPr lang="en-US" sz="1200" b="1" dirty="0" smtClean="0">
                  <a:solidFill>
                    <a:srgbClr val="000000"/>
                  </a:solidFill>
                  <a:latin typeface="+mn-lt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6342108" y="4171950"/>
              <a:ext cx="17937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solidFill>
                    <a:srgbClr val="000000"/>
                  </a:solidFill>
                  <a:latin typeface="+mn-lt"/>
                  <a:cs typeface="Courier New" panose="02070309020205020404" pitchFamily="49" charset="0"/>
                </a:rPr>
                <a:t>Fixed Length Page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715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Merged Instancing using 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Use the vertex ID to look up the mesh to </a:t>
            </a:r>
            <a:r>
              <a:rPr lang="en-US" dirty="0" smtClean="0"/>
              <a:t>instance </a:t>
            </a:r>
            <a:endParaRPr lang="en-US" dirty="0"/>
          </a:p>
          <a:p>
            <a:pPr lvl="1"/>
            <a:r>
              <a:rPr lang="en-US" dirty="0"/>
              <a:t>All meshes are the same size, so (id / SIZE) can be used as an offset to the mesh </a:t>
            </a:r>
            <a:endParaRPr lang="en-US" dirty="0" smtClean="0"/>
          </a:p>
          <a:p>
            <a:pPr lvl="1"/>
            <a:r>
              <a:rPr lang="en-US" dirty="0" smtClean="0"/>
              <a:t>Faster than using </a:t>
            </a:r>
            <a:r>
              <a:rPr lang="en-US" dirty="0" err="1" smtClean="0"/>
              <a:t>DrawInstanced</a:t>
            </a:r>
            <a:r>
              <a:rPr lang="en-US" dirty="0" smtClean="0"/>
              <a:t>()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44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 Instancing Performance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0740330"/>
              </p:ext>
            </p:extLst>
          </p:nvPr>
        </p:nvGraphicFramePr>
        <p:xfrm>
          <a:off x="4038600" y="1581150"/>
          <a:ext cx="510540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04950"/>
            <a:ext cx="3352800" cy="3295650"/>
          </a:xfrm>
        </p:spPr>
        <p:txBody>
          <a:bodyPr/>
          <a:lstStyle/>
          <a:p>
            <a:r>
              <a:rPr lang="en-US" sz="1400" dirty="0" smtClean="0"/>
              <a:t>Instancing performance test by Cloud Imperium Games for Star Citizen</a:t>
            </a:r>
          </a:p>
          <a:p>
            <a:r>
              <a:rPr lang="en-US" sz="1400" dirty="0" smtClean="0"/>
              <a:t>Renders 13.5M triangles (~40M </a:t>
            </a:r>
            <a:r>
              <a:rPr lang="en-US" sz="1400" dirty="0" err="1" smtClean="0"/>
              <a:t>verts</a:t>
            </a:r>
            <a:r>
              <a:rPr lang="en-US" sz="1400" dirty="0" smtClean="0"/>
              <a:t>)</a:t>
            </a:r>
          </a:p>
          <a:p>
            <a:r>
              <a:rPr lang="en-US" sz="1400" dirty="0" err="1" smtClean="0"/>
              <a:t>DrawInstanced</a:t>
            </a:r>
            <a:r>
              <a:rPr lang="en-US" sz="1400" dirty="0" smtClean="0"/>
              <a:t> version calls </a:t>
            </a:r>
            <a:r>
              <a:rPr lang="en-US" sz="1400" dirty="0" err="1" smtClean="0"/>
              <a:t>DrawInstanced</a:t>
            </a:r>
            <a:r>
              <a:rPr lang="en-US" sz="1400" dirty="0" smtClean="0"/>
              <a:t>() and uses instance data in a vertex buffer</a:t>
            </a:r>
          </a:p>
          <a:p>
            <a:r>
              <a:rPr lang="en-US" sz="1400" dirty="0" smtClean="0"/>
              <a:t>Soft Instancing version uses vertex instancing with Draw() calls and fetches instance data from SRV</a:t>
            </a:r>
          </a:p>
          <a:p>
            <a:pPr indent="0">
              <a:buNone/>
            </a:pPr>
            <a:endParaRPr lang="en-US" sz="1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8229600" y="2647950"/>
            <a:ext cx="10668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000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AMD </a:t>
            </a:r>
            <a:r>
              <a:rPr lang="en-US" sz="1000" dirty="0" err="1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Radeon</a:t>
            </a:r>
            <a:r>
              <a:rPr lang="en-US" sz="1000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 R9 290X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5800" y="3028950"/>
            <a:ext cx="8382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000" dirty="0" err="1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Nvidia</a:t>
            </a:r>
            <a:r>
              <a:rPr lang="en-US" sz="1000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 GTX 780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8153400" y="2724150"/>
            <a:ext cx="152400" cy="152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153400" y="3105150"/>
            <a:ext cx="152400" cy="152400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9520" y="2796540"/>
            <a:ext cx="480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ms</a:t>
            </a:r>
          </a:p>
        </p:txBody>
      </p:sp>
    </p:spTree>
    <p:extLst>
      <p:ext uri="{BB962C8B-B14F-4D97-AF65-F5344CB8AC3E}">
        <p14:creationId xmlns:p14="http://schemas.microsoft.com/office/powerpoint/2010/main" val="158107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Vertex Shader UAVs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Random access Read/Write in a VS</a:t>
            </a:r>
          </a:p>
          <a:p>
            <a:r>
              <a:rPr lang="en-US" dirty="0" smtClean="0"/>
              <a:t>Can be used to store transformed vertex data for use in multi-pass algorithms</a:t>
            </a:r>
          </a:p>
          <a:p>
            <a:r>
              <a:rPr lang="en-US" dirty="0" smtClean="0"/>
              <a:t>Can be used for passing constant attributes between any </a:t>
            </a:r>
            <a:r>
              <a:rPr lang="en-US" dirty="0" err="1" smtClean="0"/>
              <a:t>shader</a:t>
            </a:r>
            <a:r>
              <a:rPr lang="en-US" dirty="0" smtClean="0"/>
              <a:t> stage (not just from VS)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26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Skinning to UAV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077200" cy="3352800"/>
          </a:xfrm>
        </p:spPr>
        <p:txBody>
          <a:bodyPr/>
          <a:lstStyle/>
          <a:p>
            <a:r>
              <a:rPr lang="en-US" dirty="0" smtClean="0"/>
              <a:t>Skin vertex data then output to UAV</a:t>
            </a:r>
          </a:p>
          <a:p>
            <a:pPr lvl="1"/>
            <a:r>
              <a:rPr lang="en-US" dirty="0" smtClean="0"/>
              <a:t>Instance the skinned UAV data multiple times</a:t>
            </a:r>
          </a:p>
          <a:p>
            <a:r>
              <a:rPr lang="en-US" dirty="0" smtClean="0"/>
              <a:t>Can also be used for non-instanced data</a:t>
            </a:r>
          </a:p>
          <a:p>
            <a:pPr lvl="1"/>
            <a:r>
              <a:rPr lang="en-US" dirty="0" smtClean="0"/>
              <a:t>Multiple passes can reuse the transformed vertex data – Shadow map rendering</a:t>
            </a:r>
          </a:p>
          <a:p>
            <a:r>
              <a:rPr lang="en-US" dirty="0" smtClean="0"/>
              <a:t>Performance is about the same as stream-out, but you can do more 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4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Bounding Box to UAV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077200" cy="3352800"/>
          </a:xfrm>
        </p:spPr>
        <p:txBody>
          <a:bodyPr/>
          <a:lstStyle/>
          <a:p>
            <a:r>
              <a:rPr lang="en-US" dirty="0" smtClean="0"/>
              <a:t>Can calculate and store </a:t>
            </a:r>
            <a:r>
              <a:rPr lang="en-US" dirty="0" err="1" smtClean="0"/>
              <a:t>Bbox</a:t>
            </a:r>
            <a:r>
              <a:rPr lang="en-US" dirty="0" smtClean="0"/>
              <a:t> in the VS</a:t>
            </a:r>
          </a:p>
          <a:p>
            <a:pPr lvl="1"/>
            <a:r>
              <a:rPr lang="en-US" dirty="0" smtClean="0"/>
              <a:t>Use a UAV to store the min/max values (6)</a:t>
            </a:r>
          </a:p>
          <a:p>
            <a:pPr lvl="1"/>
            <a:r>
              <a:rPr lang="en-US" dirty="0" err="1" smtClean="0"/>
              <a:t>InterlockedMin</a:t>
            </a:r>
            <a:r>
              <a:rPr lang="en-US" dirty="0" smtClean="0"/>
              <a:t>/</a:t>
            </a:r>
            <a:r>
              <a:rPr lang="en-US" dirty="0" err="1" smtClean="0"/>
              <a:t>InterlockedMax</a:t>
            </a:r>
            <a:r>
              <a:rPr lang="en-US" dirty="0" smtClean="0"/>
              <a:t> determine min and max of the </a:t>
            </a:r>
            <a:r>
              <a:rPr lang="en-US" dirty="0" err="1" smtClean="0"/>
              <a:t>bbox</a:t>
            </a:r>
            <a:endParaRPr lang="en-US" dirty="0" smtClean="0"/>
          </a:p>
          <a:p>
            <a:pPr lvl="2"/>
            <a:r>
              <a:rPr lang="en-US" dirty="0" smtClean="0"/>
              <a:t>Need to use integer values with atomics</a:t>
            </a:r>
          </a:p>
          <a:p>
            <a:r>
              <a:rPr lang="en-US" dirty="0" smtClean="0"/>
              <a:t>Use the stored </a:t>
            </a:r>
            <a:r>
              <a:rPr lang="en-US" dirty="0" err="1" smtClean="0"/>
              <a:t>bbox</a:t>
            </a:r>
            <a:r>
              <a:rPr lang="en-US" dirty="0" smtClean="0"/>
              <a:t> in later passes</a:t>
            </a:r>
          </a:p>
          <a:p>
            <a:pPr lvl="1"/>
            <a:r>
              <a:rPr lang="en-US" dirty="0" smtClean="0"/>
              <a:t>GPU physics (collision)</a:t>
            </a:r>
          </a:p>
          <a:p>
            <a:pPr lvl="1"/>
            <a:r>
              <a:rPr lang="en-US" dirty="0" smtClean="0"/>
              <a:t>Tile based processing</a:t>
            </a:r>
          </a:p>
          <a:p>
            <a:pPr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61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Bounding Box: HLSL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504950"/>
            <a:ext cx="830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UAVBBoxSkinVS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VSSkinnedIn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input,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id:SV_VERTEXID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skin the vertex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output the max and min for the bounding box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vSkinned.Pos.x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FLOAT_SCALE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// convert to integer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 =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vSkinned.Pos.y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FLOAT_SCALE);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 =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vSkinned.Pos.z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FLOAT_SCALE);</a:t>
            </a:r>
          </a:p>
          <a:p>
            <a:pPr algn="l"/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InterlockedMin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g_BBoxUAV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x);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InterlockedMin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g_BBoxUAV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y);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InterlockedMin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g_BBoxUAV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z);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InterlockedMax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g_BBoxUAV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x);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InterlockedMax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g_BBoxUAV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[4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y);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InterlockedMax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g_BBoxUAV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z);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. . .</a:t>
            </a:r>
          </a:p>
        </p:txBody>
      </p:sp>
    </p:spTree>
    <p:extLst>
      <p:ext uri="{BB962C8B-B14F-4D97-AF65-F5344CB8AC3E}">
        <p14:creationId xmlns:p14="http://schemas.microsoft.com/office/powerpoint/2010/main" val="298316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Particle System UAV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Single pass GPU-only particle system</a:t>
            </a:r>
          </a:p>
          <a:p>
            <a:r>
              <a:rPr lang="en-US" dirty="0" smtClean="0"/>
              <a:t>In the VS:</a:t>
            </a:r>
          </a:p>
          <a:p>
            <a:pPr lvl="1"/>
            <a:r>
              <a:rPr lang="en-US" dirty="0" smtClean="0"/>
              <a:t>Generate sprites for rendering</a:t>
            </a:r>
          </a:p>
          <a:p>
            <a:pPr lvl="1"/>
            <a:r>
              <a:rPr lang="en-US" dirty="0" smtClean="0"/>
              <a:t>Do Euler integration and update the particle system state to a UAV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04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Particle System: HLSL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504950"/>
            <a:ext cx="79248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fr-FR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particleIndex</a:t>
            </a:r>
            <a:r>
              <a:rPr lang="fr-FR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id / 4;</a:t>
            </a:r>
          </a:p>
          <a:p>
            <a:pPr algn="l"/>
            <a:r>
              <a:rPr lang="fr-FR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fr-FR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vertexInQuad</a:t>
            </a:r>
            <a:r>
              <a:rPr lang="fr-FR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id % 4</a:t>
            </a:r>
            <a:r>
              <a:rPr lang="fr-FR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fr-FR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 the new position of the vertex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float3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oldPosition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g_bufPosColor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particleIndex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pos.xyz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float3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oldVelocity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g_bufPosColor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particleIndex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velocity.xyz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Euler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integration to find new position and velocity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float3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acceleration = normalize(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oldVelocity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* ACCELLERATION;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float3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newVelocity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acceleration * 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g_deltaT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oldVelocity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float3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newPosition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newVelocity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g_deltaT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oldPosition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g_particleUAV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particleIndex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float4(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newPosition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1.0);</a:t>
            </a:r>
          </a:p>
          <a:p>
            <a:pPr algn="l"/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g_particleUAV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b="1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particleIndex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].velocity = float4(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newVelocity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0.0</a:t>
            </a:r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Generate sprite vertices</a:t>
            </a:r>
          </a:p>
          <a:p>
            <a:pPr algn="l"/>
            <a:r>
              <a:rPr lang="en-US" sz="1200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  <a:endParaRPr 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US" sz="1200" b="1" dirty="0" err="1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90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229600" cy="3124200"/>
          </a:xfrm>
        </p:spPr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“tricks” can be more efficient than more commonly used methods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SV_Vertex</a:t>
            </a:r>
            <a:r>
              <a:rPr lang="en-US" dirty="0" smtClean="0"/>
              <a:t> ID for smarter instancing</a:t>
            </a:r>
          </a:p>
          <a:p>
            <a:pPr lvl="2"/>
            <a:r>
              <a:rPr lang="en-US" dirty="0" smtClean="0"/>
              <a:t>Sprites</a:t>
            </a:r>
          </a:p>
          <a:p>
            <a:pPr lvl="2"/>
            <a:r>
              <a:rPr lang="en-US" dirty="0" smtClean="0"/>
              <a:t>Merge Instancing</a:t>
            </a:r>
          </a:p>
          <a:p>
            <a:pPr lvl="1"/>
            <a:r>
              <a:rPr lang="en-US" dirty="0" smtClean="0"/>
              <a:t>UAVs add lots of freedom to vertex </a:t>
            </a:r>
            <a:r>
              <a:rPr lang="en-US" dirty="0" err="1" smtClean="0"/>
              <a:t>shaders</a:t>
            </a:r>
            <a:endParaRPr lang="en-US" dirty="0" smtClean="0"/>
          </a:p>
          <a:p>
            <a:pPr lvl="2"/>
            <a:r>
              <a:rPr lang="en-US" dirty="0" smtClean="0"/>
              <a:t>Bounding box calculation</a:t>
            </a:r>
            <a:endParaRPr lang="en-US" dirty="0"/>
          </a:p>
          <a:p>
            <a:pPr lvl="2"/>
            <a:r>
              <a:rPr lang="en-US" dirty="0" smtClean="0"/>
              <a:t>Single pass VS particle system</a:t>
            </a:r>
          </a:p>
        </p:txBody>
      </p:sp>
    </p:spTree>
    <p:extLst>
      <p:ext uri="{BB962C8B-B14F-4D97-AF65-F5344CB8AC3E}">
        <p14:creationId xmlns:p14="http://schemas.microsoft.com/office/powerpoint/2010/main" val="213146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3352800" cy="1371600"/>
          </a:xfrm>
        </p:spPr>
        <p:txBody>
          <a:bodyPr/>
          <a:lstStyle/>
          <a:p>
            <a:r>
              <a:rPr lang="en-US" dirty="0" smtClean="0"/>
              <a:t>Particle System</a:t>
            </a:r>
          </a:p>
          <a:p>
            <a:r>
              <a:rPr lang="en-US" dirty="0" smtClean="0"/>
              <a:t>UAV Skinning</a:t>
            </a:r>
          </a:p>
          <a:p>
            <a:pPr lvl="1"/>
            <a:r>
              <a:rPr lang="en-US" dirty="0" err="1" smtClean="0"/>
              <a:t>Bbox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742950"/>
            <a:ext cx="2743200" cy="21326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1" y="3028950"/>
            <a:ext cx="30480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5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077200" cy="3352800"/>
          </a:xfrm>
        </p:spPr>
        <p:txBody>
          <a:bodyPr/>
          <a:lstStyle/>
          <a:p>
            <a:r>
              <a:rPr lang="en-US" dirty="0" smtClean="0"/>
              <a:t>Merge Instancing</a:t>
            </a:r>
          </a:p>
          <a:p>
            <a:pPr lvl="1"/>
            <a:r>
              <a:rPr lang="en-US" dirty="0" smtClean="0"/>
              <a:t>Emil Person, “Graphics Gems for Games” SIGGRAPH 2011</a:t>
            </a:r>
          </a:p>
          <a:p>
            <a:pPr lvl="1"/>
            <a:r>
              <a:rPr lang="en-US" dirty="0" smtClean="0"/>
              <a:t>Brendan Jackson, Cloud Imperium</a:t>
            </a:r>
          </a:p>
          <a:p>
            <a:r>
              <a:rPr lang="en-US" dirty="0" smtClean="0"/>
              <a:t>Thanks to</a:t>
            </a:r>
          </a:p>
          <a:p>
            <a:pPr lvl="1"/>
            <a:r>
              <a:rPr lang="en-US" dirty="0" smtClean="0"/>
              <a:t>Nick Thibieroz, AMD</a:t>
            </a:r>
          </a:p>
          <a:p>
            <a:pPr lvl="1"/>
            <a:r>
              <a:rPr lang="en-US" dirty="0" smtClean="0"/>
              <a:t>Raul Aguaviva (particle system UAV), AMD</a:t>
            </a:r>
          </a:p>
          <a:p>
            <a:pPr lvl="1"/>
            <a:r>
              <a:rPr lang="en-US" dirty="0" smtClean="0"/>
              <a:t>Alex Kharlamov, AMD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bill.bilodeau@amd.com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60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True"/>
  <p:tag name="HOTSPOTTYPE" val="DefinedInNavigator"/>
  <p:tag name="BRANCHTO" val="262"/>
</p:tagLst>
</file>

<file path=ppt/theme/theme1.xml><?xml version="1.0" encoding="utf-8"?>
<a:theme xmlns:a="http://schemas.openxmlformats.org/drawingml/2006/main" name="GDC14_speaker_template">
  <a:themeElements>
    <a:clrScheme name="Recommending A Strategy 1">
      <a:dk1>
        <a:srgbClr val="009999"/>
      </a:dk1>
      <a:lt1>
        <a:srgbClr val="FFFFFF"/>
      </a:lt1>
      <a:dk2>
        <a:srgbClr val="000066"/>
      </a:dk2>
      <a:lt2>
        <a:srgbClr val="339966"/>
      </a:lt2>
      <a:accent1>
        <a:srgbClr val="00CC99"/>
      </a:accent1>
      <a:accent2>
        <a:srgbClr val="0099CC"/>
      </a:accent2>
      <a:accent3>
        <a:srgbClr val="AAAAB8"/>
      </a:accent3>
      <a:accent4>
        <a:srgbClr val="DADADA"/>
      </a:accent4>
      <a:accent5>
        <a:srgbClr val="AAE2CA"/>
      </a:accent5>
      <a:accent6>
        <a:srgbClr val="008AB9"/>
      </a:accent6>
      <a:hlink>
        <a:srgbClr val="336699"/>
      </a:hlink>
      <a:folHlink>
        <a:srgbClr val="B2B2B2"/>
      </a:folHlink>
    </a:clrScheme>
    <a:fontScheme name="Recommending A Strategy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4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45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200" b="1" dirty="0" err="1" smtClean="0">
            <a:solidFill>
              <a:srgbClr val="000000"/>
            </a:solidFill>
            <a:latin typeface="Courier New" panose="02070309020205020404" pitchFamily="49" charset="0"/>
            <a:cs typeface="Courier New" panose="02070309020205020404" pitchFamily="49" charset="0"/>
          </a:defRPr>
        </a:defPPr>
      </a:lstStyle>
    </a:txDef>
  </a:objectDefaults>
  <a:extraClrSchemeLst>
    <a:extraClrScheme>
      <a:clrScheme name="Recommending A Strategy 1">
        <a:dk1>
          <a:srgbClr val="009999"/>
        </a:dk1>
        <a:lt1>
          <a:srgbClr val="FFFFFF"/>
        </a:lt1>
        <a:dk2>
          <a:srgbClr val="000066"/>
        </a:dk2>
        <a:lt2>
          <a:srgbClr val="339966"/>
        </a:lt2>
        <a:accent1>
          <a:srgbClr val="00CC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E2CA"/>
        </a:accent5>
        <a:accent6>
          <a:srgbClr val="008AB9"/>
        </a:accent6>
        <a:hlink>
          <a:srgbClr val="33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2">
        <a:dk1>
          <a:srgbClr val="000000"/>
        </a:dk1>
        <a:lt1>
          <a:srgbClr val="FFFFFF"/>
        </a:lt1>
        <a:dk2>
          <a:srgbClr val="009900"/>
        </a:dk2>
        <a:lt2>
          <a:srgbClr val="CC0000"/>
        </a:lt2>
        <a:accent1>
          <a:srgbClr val="CCCC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2DB9"/>
        </a:accent6>
        <a:hlink>
          <a:srgbClr val="00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commending A Strateg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commending A Strategy 4">
        <a:dk1>
          <a:srgbClr val="333399"/>
        </a:dk1>
        <a:lt1>
          <a:srgbClr val="FFFFCC"/>
        </a:lt1>
        <a:dk2>
          <a:srgbClr val="000000"/>
        </a:dk2>
        <a:lt2>
          <a:srgbClr val="0000FF"/>
        </a:lt2>
        <a:accent1>
          <a:srgbClr val="800000"/>
        </a:accent1>
        <a:accent2>
          <a:srgbClr val="3366CC"/>
        </a:accent2>
        <a:accent3>
          <a:srgbClr val="AAAAAA"/>
        </a:accent3>
        <a:accent4>
          <a:srgbClr val="DADAAE"/>
        </a:accent4>
        <a:accent5>
          <a:srgbClr val="C0AAAA"/>
        </a:accent5>
        <a:accent6>
          <a:srgbClr val="2D5CB9"/>
        </a:accent6>
        <a:hlink>
          <a:srgbClr val="FFFF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5">
        <a:dk1>
          <a:srgbClr val="CC3300"/>
        </a:dk1>
        <a:lt1>
          <a:srgbClr val="FFFFCC"/>
        </a:lt1>
        <a:dk2>
          <a:srgbClr val="000000"/>
        </a:dk2>
        <a:lt2>
          <a:srgbClr val="CC6600"/>
        </a:lt2>
        <a:accent1>
          <a:srgbClr val="993300"/>
        </a:accent1>
        <a:accent2>
          <a:srgbClr val="808000"/>
        </a:accent2>
        <a:accent3>
          <a:srgbClr val="AAAAAA"/>
        </a:accent3>
        <a:accent4>
          <a:srgbClr val="DADAAE"/>
        </a:accent4>
        <a:accent5>
          <a:srgbClr val="CAAD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6">
        <a:dk1>
          <a:srgbClr val="66CCFF"/>
        </a:dk1>
        <a:lt1>
          <a:srgbClr val="CCECFF"/>
        </a:lt1>
        <a:dk2>
          <a:srgbClr val="000000"/>
        </a:dk2>
        <a:lt2>
          <a:srgbClr val="9999FF"/>
        </a:lt2>
        <a:accent1>
          <a:srgbClr val="FFFFFF"/>
        </a:accent1>
        <a:accent2>
          <a:srgbClr val="99CCFF"/>
        </a:accent2>
        <a:accent3>
          <a:srgbClr val="AAAAAA"/>
        </a:accent3>
        <a:accent4>
          <a:srgbClr val="AEC9DA"/>
        </a:accent4>
        <a:accent5>
          <a:srgbClr val="FFFFFF"/>
        </a:accent5>
        <a:accent6>
          <a:srgbClr val="8AB9E7"/>
        </a:accent6>
        <a:hlink>
          <a:srgbClr val="CCE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7">
        <a:dk1>
          <a:srgbClr val="993366"/>
        </a:dk1>
        <a:lt1>
          <a:srgbClr val="FFFFCC"/>
        </a:lt1>
        <a:dk2>
          <a:srgbClr val="333399"/>
        </a:dk2>
        <a:lt2>
          <a:srgbClr val="0066FF"/>
        </a:lt2>
        <a:accent1>
          <a:srgbClr val="6600FF"/>
        </a:accent1>
        <a:accent2>
          <a:srgbClr val="0099CC"/>
        </a:accent2>
        <a:accent3>
          <a:srgbClr val="ADADCA"/>
        </a:accent3>
        <a:accent4>
          <a:srgbClr val="DADAAE"/>
        </a:accent4>
        <a:accent5>
          <a:srgbClr val="B8AAFF"/>
        </a:accent5>
        <a:accent6>
          <a:srgbClr val="008AB9"/>
        </a:accent6>
        <a:hlink>
          <a:srgbClr val="66FF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8">
        <a:dk1>
          <a:srgbClr val="993366"/>
        </a:dk1>
        <a:lt1>
          <a:srgbClr val="EAEAEA"/>
        </a:lt1>
        <a:dk2>
          <a:srgbClr val="660066"/>
        </a:dk2>
        <a:lt2>
          <a:srgbClr val="CC0000"/>
        </a:lt2>
        <a:accent1>
          <a:srgbClr val="A50021"/>
        </a:accent1>
        <a:accent2>
          <a:srgbClr val="660033"/>
        </a:accent2>
        <a:accent3>
          <a:srgbClr val="B8AAB8"/>
        </a:accent3>
        <a:accent4>
          <a:srgbClr val="C8C8C8"/>
        </a:accent4>
        <a:accent5>
          <a:srgbClr val="CFAAAB"/>
        </a:accent5>
        <a:accent6>
          <a:srgbClr val="5C00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GDC14_speaker_template</Template>
  <TotalTime>1228</TotalTime>
  <Words>1461</Words>
  <Application>Microsoft Office PowerPoint</Application>
  <PresentationFormat>On-screen Show (16:9)</PresentationFormat>
  <Paragraphs>336</Paragraphs>
  <Slides>33</Slides>
  <Notes>20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GDC14_speaker_template</vt:lpstr>
      <vt:lpstr>Visio</vt:lpstr>
      <vt:lpstr>Vertex Shader Tricks   New Ways to Use the Vertex Shader to Improve Performance   Bill Bilodeau Developer Technology Engineer, AMD</vt:lpstr>
      <vt:lpstr>Topics Covered</vt:lpstr>
      <vt:lpstr>DX11 Front-End Pipeline</vt:lpstr>
      <vt:lpstr>Bottlenecks - VS</vt:lpstr>
      <vt:lpstr>Bottlenecks - VS</vt:lpstr>
      <vt:lpstr>Bottlenecks - GS</vt:lpstr>
      <vt:lpstr>Advanced Vertex Shader Features</vt:lpstr>
      <vt:lpstr>SV_VertexID</vt:lpstr>
      <vt:lpstr>UAV buffers</vt:lpstr>
      <vt:lpstr>NULL Vertex Buffer</vt:lpstr>
      <vt:lpstr>Vertex Shader Techniques</vt:lpstr>
      <vt:lpstr>Full Screen Triangle</vt:lpstr>
      <vt:lpstr>Full Screen Triangle: C++ code</vt:lpstr>
      <vt:lpstr>Full Screen Triangle: HLSL Code</vt:lpstr>
      <vt:lpstr>VS Instancing: Point Sprites</vt:lpstr>
      <vt:lpstr>Point Sprites: C++ Code</vt:lpstr>
      <vt:lpstr>Point Sprites: HLSL Code</vt:lpstr>
      <vt:lpstr>Point Sprite Performance</vt:lpstr>
      <vt:lpstr>Point Sprite Performance</vt:lpstr>
      <vt:lpstr>Merge Instancing</vt:lpstr>
      <vt:lpstr>Merge Instancing</vt:lpstr>
      <vt:lpstr>Merged Instancing using VS</vt:lpstr>
      <vt:lpstr>Merge Instancing Performance</vt:lpstr>
      <vt:lpstr>Vertex Shader UAVs</vt:lpstr>
      <vt:lpstr>Skinning to UAV</vt:lpstr>
      <vt:lpstr>Bounding Box to UAV</vt:lpstr>
      <vt:lpstr>Bounding Box: HLSL Code</vt:lpstr>
      <vt:lpstr>Particle System UAV</vt:lpstr>
      <vt:lpstr>Particle System: HLSL Code</vt:lpstr>
      <vt:lpstr>Conclusion</vt:lpstr>
      <vt:lpstr>Demos</vt:lpstr>
      <vt:lpstr>Acknowledgements</vt:lpstr>
      <vt:lpstr>Questions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  Speaker Name Speaker Title &amp; Company</dc:title>
  <dc:creator>Bill Bilodeau</dc:creator>
  <cp:lastModifiedBy>Bill Bilodeau</cp:lastModifiedBy>
  <cp:revision>83</cp:revision>
  <cp:lastPrinted>1904-01-01T00:00:00Z</cp:lastPrinted>
  <dcterms:created xsi:type="dcterms:W3CDTF">2014-02-23T02:07:39Z</dcterms:created>
  <dcterms:modified xsi:type="dcterms:W3CDTF">2014-03-31T19:35:52Z</dcterms:modified>
</cp:coreProperties>
</file>